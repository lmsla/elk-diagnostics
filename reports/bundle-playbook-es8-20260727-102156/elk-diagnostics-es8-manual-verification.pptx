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6c9283f49047ab" /><Relationship Type="http://schemas.openxmlformats.org/officeDocument/2006/relationships/extended-properties" Target="/docProps/app.xml" Id="Rb5e8599b7d674a49" /><Relationship Type="http://schemas.openxmlformats.org/officeDocument/2006/relationships/officeDocument" Target="/ppt/presentation.xml" Id="R7d948f38c7f74f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dabfe8054a46fb"/>
  </p:sldMasterIdLst>
  <p:notesMasterIdLst>
    <p:notesMasterId xmlns:r="http://schemas.openxmlformats.org/officeDocument/2006/relationships" r:id="R9307ad43e38a460a"/>
  </p:notesMasterIdLst>
  <p:sldIdLst>
    <p:sldId xmlns:r="http://schemas.openxmlformats.org/officeDocument/2006/relationships" id="256" r:id="R35edb5b2354b4ae3"/>
    <p:sldId xmlns:r="http://schemas.openxmlformats.org/officeDocument/2006/relationships" id="257" r:id="R91893700165d49b2"/>
    <p:sldId xmlns:r="http://schemas.openxmlformats.org/officeDocument/2006/relationships" id="258" r:id="Rd4459d6b25c541e6"/>
    <p:sldId xmlns:r="http://schemas.openxmlformats.org/officeDocument/2006/relationships" id="259" r:id="R6aa07c34fc854ef7"/>
    <p:sldId xmlns:r="http://schemas.openxmlformats.org/officeDocument/2006/relationships" id="260" r:id="R203fa649bf8e478f"/>
    <p:sldId xmlns:r="http://schemas.openxmlformats.org/officeDocument/2006/relationships" id="261" r:id="R87ec224b90f84d85"/>
    <p:sldId xmlns:r="http://schemas.openxmlformats.org/officeDocument/2006/relationships" id="262" r:id="R0e282286289f4638"/>
    <p:sldId xmlns:r="http://schemas.openxmlformats.org/officeDocument/2006/relationships" id="263" r:id="R24a219751d96493d"/>
    <p:sldId xmlns:r="http://schemas.openxmlformats.org/officeDocument/2006/relationships" id="264" r:id="Rb94ff946afaf4b49"/>
    <p:sldId xmlns:r="http://schemas.openxmlformats.org/officeDocument/2006/relationships" id="265" r:id="R81243dc468724165"/>
    <p:sldId xmlns:r="http://schemas.openxmlformats.org/officeDocument/2006/relationships" id="266" r:id="R022f89a096cb4b0d"/>
    <p:sldId xmlns:r="http://schemas.openxmlformats.org/officeDocument/2006/relationships" id="267" r:id="R110508b7e7e64553"/>
    <p:sldId xmlns:r="http://schemas.openxmlformats.org/officeDocument/2006/relationships" id="268" r:id="Ra71d01597af34ab0"/>
    <p:sldId xmlns:r="http://schemas.openxmlformats.org/officeDocument/2006/relationships" id="269" r:id="R74c1aeda1d644bbe"/>
    <p:sldId xmlns:r="http://schemas.openxmlformats.org/officeDocument/2006/relationships" id="270" r:id="Ra1f7f4a13345497c"/>
    <p:sldId xmlns:r="http://schemas.openxmlformats.org/officeDocument/2006/relationships" id="271" r:id="R59fdb6f8cf274bec"/>
    <p:sldId xmlns:r="http://schemas.openxmlformats.org/officeDocument/2006/relationships" id="272" r:id="R7e4cd7b3dd194f8e"/>
    <p:sldId xmlns:r="http://schemas.openxmlformats.org/officeDocument/2006/relationships" id="273" r:id="R4b2092759a98448e"/>
    <p:sldId xmlns:r="http://schemas.openxmlformats.org/officeDocument/2006/relationships" id="274" r:id="R9ce819f0bc344fd6"/>
    <p:sldId xmlns:r="http://schemas.openxmlformats.org/officeDocument/2006/relationships" id="275" r:id="Rcc18f21873c74d3c"/>
    <p:sldId xmlns:r="http://schemas.openxmlformats.org/officeDocument/2006/relationships" id="276" r:id="R9e536a24654e4a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b7cfbded464dc5" /><Relationship Type="http://schemas.openxmlformats.org/officeDocument/2006/relationships/slideMaster" Target="/ppt/slideMasters/slideMaster1.xml" Id="R78dabfe8054a46fb" /><Relationship Type="http://schemas.openxmlformats.org/officeDocument/2006/relationships/notesMaster" Target="/ppt/notesMasters/notesMaster1.xml" Id="R9307ad43e38a460a" /><Relationship Type="http://schemas.openxmlformats.org/officeDocument/2006/relationships/presProps" Target="/ppt/presProps.xml" Id="R32e17b289f384aa1" /><Relationship Type="http://schemas.openxmlformats.org/officeDocument/2006/relationships/tableStyles" Target="/ppt/tableStyles.xml" Id="Re864b68e4800403f" /><Relationship Type="http://schemas.openxmlformats.org/officeDocument/2006/relationships/slide" Target="/ppt/slides/slide1.xml" Id="R35edb5b2354b4ae3" /><Relationship Type="http://schemas.openxmlformats.org/officeDocument/2006/relationships/slide" Target="/ppt/slides/slide2.xml" Id="R91893700165d49b2" /><Relationship Type="http://schemas.openxmlformats.org/officeDocument/2006/relationships/slide" Target="/ppt/slides/slide3.xml" Id="Rd4459d6b25c541e6" /><Relationship Type="http://schemas.openxmlformats.org/officeDocument/2006/relationships/slide" Target="/ppt/slides/slide4.xml" Id="R6aa07c34fc854ef7" /><Relationship Type="http://schemas.openxmlformats.org/officeDocument/2006/relationships/slide" Target="/ppt/slides/slide5.xml" Id="R203fa649bf8e478f" /><Relationship Type="http://schemas.openxmlformats.org/officeDocument/2006/relationships/slide" Target="/ppt/slides/slide6.xml" Id="R87ec224b90f84d85" /><Relationship Type="http://schemas.openxmlformats.org/officeDocument/2006/relationships/slide" Target="/ppt/slides/slide7.xml" Id="R0e282286289f4638" /><Relationship Type="http://schemas.openxmlformats.org/officeDocument/2006/relationships/slide" Target="/ppt/slides/slide8.xml" Id="R24a219751d96493d" /><Relationship Type="http://schemas.openxmlformats.org/officeDocument/2006/relationships/slide" Target="/ppt/slides/slide9.xml" Id="Rb94ff946afaf4b49" /><Relationship Type="http://schemas.openxmlformats.org/officeDocument/2006/relationships/slide" Target="/ppt/slides/slide10.xml" Id="R81243dc468724165" /><Relationship Type="http://schemas.openxmlformats.org/officeDocument/2006/relationships/slide" Target="/ppt/slides/slide11.xml" Id="R022f89a096cb4b0d" /><Relationship Type="http://schemas.openxmlformats.org/officeDocument/2006/relationships/slide" Target="/ppt/slides/slide12.xml" Id="R110508b7e7e64553" /><Relationship Type="http://schemas.openxmlformats.org/officeDocument/2006/relationships/slide" Target="/ppt/slides/slide13.xml" Id="Ra71d01597af34ab0" /><Relationship Type="http://schemas.openxmlformats.org/officeDocument/2006/relationships/slide" Target="/ppt/slides/slide14.xml" Id="R74c1aeda1d644bbe" /><Relationship Type="http://schemas.openxmlformats.org/officeDocument/2006/relationships/slide" Target="/ppt/slides/slide15.xml" Id="Ra1f7f4a13345497c" /><Relationship Type="http://schemas.openxmlformats.org/officeDocument/2006/relationships/slide" Target="/ppt/slides/slide16.xml" Id="R59fdb6f8cf274bec" /><Relationship Type="http://schemas.openxmlformats.org/officeDocument/2006/relationships/slide" Target="/ppt/slides/slide17.xml" Id="R7e4cd7b3dd194f8e" /><Relationship Type="http://schemas.openxmlformats.org/officeDocument/2006/relationships/slide" Target="/ppt/slides/slide18.xml" Id="R4b2092759a98448e" /><Relationship Type="http://schemas.openxmlformats.org/officeDocument/2006/relationships/slide" Target="/ppt/slides/slide19.xml" Id="R9ce819f0bc344fd6" /><Relationship Type="http://schemas.openxmlformats.org/officeDocument/2006/relationships/slide" Target="/ppt/slides/slide20.xml" Id="Rcc18f21873c74d3c" /><Relationship Type="http://schemas.openxmlformats.org/officeDocument/2006/relationships/slide" Target="/ppt/slides/slide21.xml" Id="R9e536a24654e4a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90235b0d1644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f5887420cd4d70" /><Relationship Type="http://schemas.openxmlformats.org/officeDocument/2006/relationships/notesMaster" Target="/ppt/notesMasters/notesMaster1.xml" Id="R75f11c277b9c4c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7a47e3f38a4f16" /><Relationship Type="http://schemas.openxmlformats.org/officeDocument/2006/relationships/notesMaster" Target="/ppt/notesMasters/notesMaster1.xml" Id="R9c78a18de6174c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92a5e6c897426a" /><Relationship Type="http://schemas.openxmlformats.org/officeDocument/2006/relationships/notesMaster" Target="/ppt/notesMasters/notesMaster1.xml" Id="R430aa505105243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8a3b5e9e384681" /><Relationship Type="http://schemas.openxmlformats.org/officeDocument/2006/relationships/notesMaster" Target="/ppt/notesMasters/notesMaster1.xml" Id="R55bca3514a6446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ef9181079644cf" /><Relationship Type="http://schemas.openxmlformats.org/officeDocument/2006/relationships/notesMaster" Target="/ppt/notesMasters/notesMaster1.xml" Id="R3d30f39e5a2c4d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3d548e67d94a1d" /><Relationship Type="http://schemas.openxmlformats.org/officeDocument/2006/relationships/notesMaster" Target="/ppt/notesMasters/notesMaster1.xml" Id="Rcb95bfd12a0348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fcda1865454d29" /><Relationship Type="http://schemas.openxmlformats.org/officeDocument/2006/relationships/notesMaster" Target="/ppt/notesMasters/notesMaster1.xml" Id="R1021f07e1d4c42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a5c728e8c34c26" /><Relationship Type="http://schemas.openxmlformats.org/officeDocument/2006/relationships/notesMaster" Target="/ppt/notesMasters/notesMaster1.xml" Id="R4fe0d02fddf042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eb4d10e92f470d" /><Relationship Type="http://schemas.openxmlformats.org/officeDocument/2006/relationships/notesMaster" Target="/ppt/notesMasters/notesMaster1.xml" Id="Rcaa9940e918644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16e7049fda44ae" /><Relationship Type="http://schemas.openxmlformats.org/officeDocument/2006/relationships/notesMaster" Target="/ppt/notesMasters/notesMaster1.xml" Id="R21b998aac5c044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5c9568ccee40ed" /><Relationship Type="http://schemas.openxmlformats.org/officeDocument/2006/relationships/notesMaster" Target="/ppt/notesMasters/notesMaster1.xml" Id="Rbd7c2585624f42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d2e79a582640e4" /><Relationship Type="http://schemas.openxmlformats.org/officeDocument/2006/relationships/notesMaster" Target="/ppt/notesMasters/notesMaster1.xml" Id="Rbbb367e4c45542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04d609f0ec45a2" /><Relationship Type="http://schemas.openxmlformats.org/officeDocument/2006/relationships/notesMaster" Target="/ppt/notesMasters/notesMaster1.xml" Id="Red99bf8f6a0c44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6e4eeb18324d3e" /><Relationship Type="http://schemas.openxmlformats.org/officeDocument/2006/relationships/notesMaster" Target="/ppt/notesMasters/notesMaster1.xml" Id="Rc90ef93aba0948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c6024ceb5c4b95" /><Relationship Type="http://schemas.openxmlformats.org/officeDocument/2006/relationships/notesMaster" Target="/ppt/notesMasters/notesMaster1.xml" Id="R002f12a0b3634c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2e5a0b0902416f" /><Relationship Type="http://schemas.openxmlformats.org/officeDocument/2006/relationships/notesMaster" Target="/ppt/notesMasters/notesMaster1.xml" Id="Re0cdff091dde45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d5832667d94444" /><Relationship Type="http://schemas.openxmlformats.org/officeDocument/2006/relationships/notesMaster" Target="/ppt/notesMasters/notesMaster1.xml" Id="R9636234927ff4f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2bf753cbb1f4260" /><Relationship Type="http://schemas.openxmlformats.org/officeDocument/2006/relationships/notesMaster" Target="/ppt/notesMasters/notesMaster1.xml" Id="R8f5f638d96624e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bf022eefa84143" /><Relationship Type="http://schemas.openxmlformats.org/officeDocument/2006/relationships/notesMaster" Target="/ppt/notesMasters/notesMaster1.xml" Id="R4f43b117ecd146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4ea4822f6784105" /><Relationship Type="http://schemas.openxmlformats.org/officeDocument/2006/relationships/notesMaster" Target="/ppt/notesMasters/notesMaster1.xml" Id="R652a5bdd38c6404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346f41c0b14b48" /><Relationship Type="http://schemas.openxmlformats.org/officeDocument/2006/relationships/notesMaster" Target="/ppt/notesMasters/notesMaster1.xml" Id="R1e83172ec06143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/Users/russell.chen/workspace/lab/elk-diagnostics/bundle-playbook-es8-20260727-102156/P00/bundle/version.json</a:t>
            </a:r>
          </a:p>
          <a:p xmlns:a="http://schemas.openxmlformats.org/drawingml/2006/main">
            <a:r>
              <a:t>- /Users/russell.chen/workspace/lab/elk-diagnostics/bundle-playbook-es8-20260727-102156/P00/bundle/cluster_health.json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/Users/russell.chen/workspace/lab/elk-diagnostics/reports/bundle-playbook-es8-20260727-102156/verification-summary.json</a:t>
            </a:r>
          </a:p>
          <a:p xmlns:a="http://schemas.openxmlformats.org/drawingml/2006/main">
            <a:r>
              <a:t>- /Users/russell.chen/workspace/lab/elk-diagnostics/bundle-playbook-es8-20260727-102156/P00/bundle/_status.txt</a:t>
            </a:r>
          </a:p>
          <a:p xmlns:a="http://schemas.openxmlformats.org/drawingml/2006/main">
            <a:r>
              <a:t>- /Users/russell.chen/workspace/lab/elk-diagnostics/bundle-playbook-es8-20260727-102156/P00/bundle/cluster_health.json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/Users/russell.chen/workspace/lab/elk-diagnostics/docs/VERIFICATION-BUNDLE-PLAYBOOK.md</a:t>
            </a:r>
          </a:p>
          <a:p xmlns:a="http://schemas.openxmlformats.org/drawingml/2006/main">
            <a:r>
              <a:t>- /Users/russell.chen/workspace/lab/elk-diagnostics/dev/phase0/bundle-case.sh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cluster has 1 unavailable primary shard.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/Users/russell.chen/workspace/lab/elk-diagnostics/reports/bundle-playbook-es8-20260727-102156/P01-fault/bundle-report.json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/Users/russell.chen/workspace/lab/elk-diagnostics/reports/bundle-playbook-es8-20260727-102156/post-P01/bundle-report.json</a:t>
            </a:r>
          </a:p>
          <a:p xmlns:a="http://schemas.openxmlformats.org/drawingml/2006/main">
            <a:r>
              <a:t>- /Users/russell.chen/workspace/lab/elk-diagnostics/bundle-playbook-es8-20260727-102156/P01-fault/screenshots/P01-cluster-health-red.png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cluster has 1 unavailable primary shard.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/Users/russell.chen/workspace/lab/elk-diagnostics/reports/bundle-playbook-es8-20260727-102156/P02-fault/bundle-report.json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/Users/russell.chen/workspace/lab/elk-diagnostics/reports/bundle-playbook-es8-20260727-102156/post-P02/bundle-report.json</a:t>
            </a:r>
          </a:p>
          <a:p xmlns:a="http://schemas.openxmlformats.org/drawingml/2006/main">
            <a:r>
              <a:t>- /Users/russell.chen/workspace/lab/elk-diagnostics/bundle-playbook-es8-20260727-102156/P02-fault/screenshots/P02-index-allocation-none.png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cluster has 1 unavailable replica shard.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/Users/russell.chen/workspace/lab/elk-diagnostics/reports/bundle-playbook-es8-20260727-102156/P03-fault/bundle-report.json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/Users/russell.chen/workspace/lab/elk-diagnostics/reports/bundle-playbook-es8-20260727-102156/post-P03/bundle-report.json</a:t>
            </a:r>
          </a:p>
          <a:p xmlns:a="http://schemas.openxmlformats.org/drawingml/2006/main">
            <a:r>
              <a:t>- /Users/russell.chen/workspace/lab/elk-diagnostics/bundle-playbook-es8-20260727-102156/P03-fault/screenshots/P03-same-shard.png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cluster has 1 unavailable primary shard.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/Users/russell.chen/workspace/lab/elk-diagnostics/reports/bundle-playbook-es8-20260727-102156/P04-fault/bundle-report.json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/Users/russell.chen/workspace/lab/elk-diagnostics/reports/bundle-playbook-es8-20260727-102156/post-P04/bundle-report.json</a:t>
            </a:r>
          </a:p>
          <a:p xmlns:a="http://schemas.openxmlformats.org/drawingml/2006/main">
            <a:r>
              <a:t>- /Users/russell.chen/workspace/lab/elk-diagnostics/bundle-playbook-es8-20260727-102156/P04-fault/screenshots/P04-shards-limit.png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Cluster is close to reaching the configured maximum number of shards for data nodes.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/Users/russell.chen/workspace/lab/elk-diagnostics/reports/bundle-playbook-es8-20260727-102156/P05-fault/bundle-report.json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/Users/russell.chen/workspace/lab/elk-diagnostics/reports/bundle-playbook-es8-20260727-102156/post-P05/bundle-report.json</a:t>
            </a:r>
          </a:p>
          <a:p xmlns:a="http://schemas.openxmlformats.org/drawingml/2006/main">
            <a:r>
              <a:t>- /Users/russell.chen/workspace/lab/elk-diagnostics/bundle-playbook-es8-20260727-102156/P05-invalid-replica-contaminated/screenshots/P05-shards-capacity-red.png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34 indices are not allowed to be updated. 1 node is out of disk or running low on disk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/Users/russell.chen/workspace/lab/elk-diagnostics/reports/bundle-playbook-es8-20260727-102156/P06-fault/bundle-report.json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/Users/russell.chen/workspace/lab/elk-diagnostics/reports/bundle-playbook-es8-20260727-102156/post-P06/bundle-report.json</a:t>
            </a:r>
          </a:p>
          <a:p xmlns:a="http://schemas.openxmlformats.org/drawingml/2006/main">
            <a:r>
              <a:t>- /Users/russell.chen/workspace/lab/elk-diagnostics/bundle-playbook-es8-20260727-102156/P06-fault/screenshots/P06-disk-red.png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ILM 已停止，生命週期動作不執行（SLM 亦連帶暫停）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/Users/russell.chen/workspace/lab/elk-diagnostics/reports/bundle-playbook-es8-20260727-102156/P07-fault/bundle-report.json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/Users/russell.chen/workspace/lab/elk-diagnostics/reports/bundle-playbook-es8-20260727-102156/post-P07/bundle-report.json</a:t>
            </a:r>
          </a:p>
          <a:p xmlns:a="http://schemas.openxmlformats.org/drawingml/2006/main">
            <a:r>
              <a:t>- /Users/russell.chen/workspace/lab/elk-diagnostics/bundle-playbook-es8-20260727-102156/P07-fault/screenshots/P07-ilm-stopped.png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個 index 處於 ILM ERROR step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/Users/russell.chen/workspace/lab/elk-diagnostics/reports/bundle-playbook-es8-20260727-102156/P08-fault/bundle-report.json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/Users/russell.chen/workspace/lab/elk-diagnostics/reports/bundle-playbook-es8-20260727-102156/post-P08/bundle-report.json</a:t>
            </a:r>
          </a:p>
          <a:p xmlns:a="http://schemas.openxmlformats.org/drawingml/2006/main">
            <a:r>
              <a:t>- /Users/russell.chen/workspace/lab/elk-diagnostics/bundle-playbook-es8-20260727-102156/P08-fault/screenshots/P08-ilm-policy-missing.png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個 index 欄位數達/超過上限 1000，新欄位寫入將被拒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/Users/russell.chen/workspace/lab/elk-diagnostics/reports/bundle-playbook-es8-20260727-102156/P09-fault/bundle-report.json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/Users/russell.chen/workspace/lab/elk-diagnostics/reports/bundle-playbook-es8-20260727-102156/post-P09/bundle-report.json</a:t>
            </a:r>
          </a:p>
          <a:p xmlns:a="http://schemas.openxmlformats.org/drawingml/2006/main">
            <a:r>
              <a:t>- /Users/russell.chen/workspace/lab/elk-diagnostics/bundle-playbook-es8-20260727-102156/P09-fault/screenshots/P09-mapping-explosion.png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已於 1 個 index 開啟 search slow 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/Users/russell.chen/workspace/lab/elk-diagnostics/reports/bundle-playbook-es8-20260727-102156/P10-fault/bundle-report.json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/Users/russell.chen/workspace/lab/elk-diagnostics/reports/bundle-playbook-es8-20260727-102156/post-P10/bundle-report.json</a:t>
            </a:r>
          </a:p>
          <a:p xmlns:a="http://schemas.openxmlformats.org/drawingml/2006/main">
            <a:r>
              <a:t>- /Users/russell.chen/workspace/lab/elk-diagnostics/bundle-playbook-es8-20260727-102156/P10-fault/screenshots/P10-search-slowlog-enabled.png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Watcher 已手動停止，watch 不會執行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/Users/russell.chen/workspace/lab/elk-diagnostics/reports/bundle-playbook-es8-20260727-102156/P11-fault/bundle-report.json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/Users/russell.chen/workspace/lab/elk-diagnostics/reports/bundle-playbook-es8-20260727-102156/post-P11/bundle-report.json</a:t>
            </a:r>
          </a:p>
          <a:p xmlns:a="http://schemas.openxmlformats.org/drawingml/2006/main">
            <a:r>
              <a:t>- /Users/russell.chen/workspace/lab/elk-diagnostics/bundle-playbook-es8-20260727-102156/P11-fault/screenshots/P11-watcher-stopped.png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個 transform 處於 failed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/Users/russell.chen/workspace/lab/elk-diagnostics/reports/bundle-playbook-es8-20260727-102156/P12-fault/bundle-report.json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/Users/russell.chen/workspace/lab/elk-diagnostics/reports/bundle-playbook-es8-20260727-102156/post-P12/bundle-report.json</a:t>
            </a:r>
          </a:p>
          <a:p xmlns:a="http://schemas.openxmlformats.org/drawingml/2006/main">
            <a:r>
              <a:t>- /Users/russell.chen/workspace/lab/elk-diagnostics/bundle-playbook-es8-20260727-102156/P12-fault/screenshots/P12-transform-failed.png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項 warning deprecation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/Users/russell.chen/workspace/lab/elk-diagnostics/reports/bundle-playbook-es8-20260727-102156/P13-fault/bundle-report.json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/Users/russell.chen/workspace/lab/elk-diagnostics/reports/bundle-playbook-es8-20260727-102156/post-P13/bundle-report.json</a:t>
            </a:r>
          </a:p>
          <a:p xmlns:a="http://schemas.openxmlformats.org/drawingml/2006/main">
            <a:r>
              <a:t>- /Users/russell.chen/workspace/lab/elk-diagnostics/bundle-playbook-es8-20260727-102156/P13-fault/screenshots/P13-monitoring-deprecation-warning.png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個 remote cluster 未連線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/Users/russell.chen/workspace/lab/elk-diagnostics/reports/bundle-playbook-es8-20260727-102156/P14-fault/bundle-report.json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/Users/russell.chen/workspace/lab/elk-diagnostics/reports/bundle-playbook-es8-20260727-102156/post-P14/bundle-report.json</a:t>
            </a:r>
          </a:p>
          <a:p xmlns:a="http://schemas.openxmlformats.org/drawingml/2006/main">
            <a:r>
              <a:t>- /Users/russell.chen/workspace/lab/elk-diagnostics/bundle-playbook-es8-20260727-102156/P14-fault/screenshots/P14-remote-cluster-disconnected.png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個 ingest pipeline 失敗率 &gt;10%（累積值）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/Users/russell.chen/workspace/lab/elk-diagnostics/reports/bundle-playbook-es8-20260727-102156/P15-fault/bundle-report.json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/Users/russell.chen/workspace/lab/elk-diagnostics/reports/bundle-playbook-es8-20260727-102156/post-P15/bundle-report.json</a:t>
            </a:r>
          </a:p>
          <a:p xmlns:a="http://schemas.openxmlformats.org/drawingml/2006/main">
            <a:r>
              <a:t>- /Users/russell.chen/workspace/lab/elk-diagnostics/bundle-playbook-es8-20260727-102156/P15-fault/screenshots/P15-ingest-pipeline-failed-count.png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個非系統 index 存在讀寫或 metadata block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/Users/russell.chen/workspace/lab/elk-diagnostics/reports/bundle-playbook-es8-20260727-102156/P16-fault/bundle-report.json</a:t>
            </a:r>
          </a:p>
          <a:p xmlns:a="http://schemas.openxmlformats.org/drawingml/2006/main">
            <a:r>
              <a:t>- /Users/russell.chen/workspace/lab/elk-diagnostics/reports/bundle-playbook-es8-20260727-102156/post-P16/bundle-report.json</a:t>
            </a:r>
          </a:p>
          <a:p xmlns:a="http://schemas.openxmlformats.org/drawingml/2006/main">
            <a:r>
              <a:t>- /Users/russell.chen/workspace/lab/elk-diagnostics/bundle-playbook-es8-20260727-102156/P16-fault/screenshots/P16-write-rejected-403.png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/Users/russell.chen/workspace/lab/elk-diagnostics/reports/bundle-playbook-es8-20260727-102156/verification-summary.json</a:t>
            </a:r>
          </a:p>
          <a:p xmlns:a="http://schemas.openxmlformats.org/drawingml/2006/main">
            <a:r>
              <a:t>- https://www.elastic.co/docs/reference/elasticsearch/index-settings/mapping-limit</a:t>
            </a:r>
          </a:p>
          <a:p xmlns:a="http://schemas.openxmlformats.org/drawingml/2006/main">
            <a:r>
              <a:t>- https://www.elastic.co/docs/api/doc/elasticsearch/v8/operation/operation-license-post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/Users/russell.chen/workspace/lab/elk-diagnostics/reports/bundle-playbook-es8-20260727-102156/verification-summary.json</a:t>
            </a:r>
          </a:p>
          <a:p xmlns:a="http://schemas.openxmlformats.org/drawingml/2006/main">
            <a:r>
              <a:t>- /Users/russell.chen/workspace/lab/elk-diagnostics/docs/VERIFICATION-BUNDLE-PLAYBOOK.md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d70d3ce3d45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d649c6ab0a49f7" /><Relationship Type="http://schemas.openxmlformats.org/officeDocument/2006/relationships/slideLayout" Target="/ppt/slideLayouts/slideLayout1.xml" Id="R2ab5be16ed9642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b5be16ed9642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2db5ce0aa4b17" /><Relationship Type="http://schemas.openxmlformats.org/officeDocument/2006/relationships/notesSlide" Target="/ppt/notesSlides/notesSlide1.xml" Id="Rf2db2fd90a2d4f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ad62da27b41c6" /><Relationship Type="http://schemas.openxmlformats.org/officeDocument/2006/relationships/notesSlide" Target="/ppt/notesSlides/notesSlide2.xml" Id="Re8684162b3a644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f4ec39cda4dbd" /><Relationship Type="http://schemas.openxmlformats.org/officeDocument/2006/relationships/notesSlide" Target="/ppt/notesSlides/notesSlide3.xml" Id="R7bd99d44c1a748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80d42b76340fe" /><Relationship Type="http://schemas.openxmlformats.org/officeDocument/2006/relationships/image" Target="/ppt/media/image.png" Id="R06f20574bca74913" /><Relationship Type="http://schemas.openxmlformats.org/officeDocument/2006/relationships/notesSlide" Target="/ppt/notesSlides/notesSlide4.xml" Id="R6bf69f82db5f47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6a1c787c8498b" /><Relationship Type="http://schemas.openxmlformats.org/officeDocument/2006/relationships/image" Target="/ppt/media/image2.png" Id="R595cd1031fff454f" /><Relationship Type="http://schemas.openxmlformats.org/officeDocument/2006/relationships/notesSlide" Target="/ppt/notesSlides/notesSlide5.xml" Id="R4923e685d4e54f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52d25255245d2" /><Relationship Type="http://schemas.openxmlformats.org/officeDocument/2006/relationships/image" Target="/ppt/media/image3.png" Id="R92405983c6254798" /><Relationship Type="http://schemas.openxmlformats.org/officeDocument/2006/relationships/notesSlide" Target="/ppt/notesSlides/notesSlide6.xml" Id="Rd35e683b1f9948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64d8e558d4d7f" /><Relationship Type="http://schemas.openxmlformats.org/officeDocument/2006/relationships/image" Target="/ppt/media/image4.png" Id="R517d63b151e2496d" /><Relationship Type="http://schemas.openxmlformats.org/officeDocument/2006/relationships/notesSlide" Target="/ppt/notesSlides/notesSlide7.xml" Id="Rece7513c74b84a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440b83dd044ba" /><Relationship Type="http://schemas.openxmlformats.org/officeDocument/2006/relationships/image" Target="/ppt/media/image5.png" Id="R677d9aba4e924662" /><Relationship Type="http://schemas.openxmlformats.org/officeDocument/2006/relationships/notesSlide" Target="/ppt/notesSlides/notesSlide8.xml" Id="R287ebb50967745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6c48faed341d2" /><Relationship Type="http://schemas.openxmlformats.org/officeDocument/2006/relationships/image" Target="/ppt/media/image6.png" Id="R97b06e8234b74f32" /><Relationship Type="http://schemas.openxmlformats.org/officeDocument/2006/relationships/notesSlide" Target="/ppt/notesSlides/notesSlide9.xml" Id="Ra2f8f12af5204a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114ab7755448b" /><Relationship Type="http://schemas.openxmlformats.org/officeDocument/2006/relationships/image" Target="/ppt/media/image7.png" Id="Rc5a9ba73d36d4379" /><Relationship Type="http://schemas.openxmlformats.org/officeDocument/2006/relationships/notesSlide" Target="/ppt/notesSlides/notesSlide10.xml" Id="R1e1b3a62763546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d975223fd495f" /><Relationship Type="http://schemas.openxmlformats.org/officeDocument/2006/relationships/image" Target="/ppt/media/image8.png" Id="R26e7a4d67c8345d9" /><Relationship Type="http://schemas.openxmlformats.org/officeDocument/2006/relationships/notesSlide" Target="/ppt/notesSlides/notesSlide11.xml" Id="R69f24004826045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dc43e957c49a1" /><Relationship Type="http://schemas.openxmlformats.org/officeDocument/2006/relationships/image" Target="/ppt/media/image9.png" Id="R58abe8e158d94734" /><Relationship Type="http://schemas.openxmlformats.org/officeDocument/2006/relationships/notesSlide" Target="/ppt/notesSlides/notesSlide12.xml" Id="Ra9a22b27024440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200217fb847b8" /><Relationship Type="http://schemas.openxmlformats.org/officeDocument/2006/relationships/image" Target="/ppt/media/image10.png" Id="Rd3b4610aa4c84996" /><Relationship Type="http://schemas.openxmlformats.org/officeDocument/2006/relationships/notesSlide" Target="/ppt/notesSlides/notesSlide13.xml" Id="R74a978e7904348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86d8cd5c14d5a" /><Relationship Type="http://schemas.openxmlformats.org/officeDocument/2006/relationships/image" Target="/ppt/media/image11.png" Id="Rcde96c7a10474630" /><Relationship Type="http://schemas.openxmlformats.org/officeDocument/2006/relationships/notesSlide" Target="/ppt/notesSlides/notesSlide14.xml" Id="R317ead2b0fc542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18796ea534794" /><Relationship Type="http://schemas.openxmlformats.org/officeDocument/2006/relationships/image" Target="/ppt/media/image12.png" Id="R59c8677833d04a9c" /><Relationship Type="http://schemas.openxmlformats.org/officeDocument/2006/relationships/notesSlide" Target="/ppt/notesSlides/notesSlide15.xml" Id="R91c94dc410c248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4044df6174f8c" /><Relationship Type="http://schemas.openxmlformats.org/officeDocument/2006/relationships/image" Target="/ppt/media/image13.png" Id="R73b5d77f5ea64434" /><Relationship Type="http://schemas.openxmlformats.org/officeDocument/2006/relationships/notesSlide" Target="/ppt/notesSlides/notesSlide16.xml" Id="Ra6d1d90e9fd142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09450f3924325" /><Relationship Type="http://schemas.openxmlformats.org/officeDocument/2006/relationships/image" Target="/ppt/media/image14.png" Id="R84fab75441e3464d" /><Relationship Type="http://schemas.openxmlformats.org/officeDocument/2006/relationships/notesSlide" Target="/ppt/notesSlides/notesSlide17.xml" Id="Rfa9268f9911040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b280a7446406e" /><Relationship Type="http://schemas.openxmlformats.org/officeDocument/2006/relationships/image" Target="/ppt/media/image15.png" Id="R4ecbc53636244b65" /><Relationship Type="http://schemas.openxmlformats.org/officeDocument/2006/relationships/notesSlide" Target="/ppt/notesSlides/notesSlide18.xml" Id="R1a37c4c2ee9c4cc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ce824c9f046a1" /><Relationship Type="http://schemas.openxmlformats.org/officeDocument/2006/relationships/image" Target="/ppt/media/image16.png" Id="R042223facaab4196" /><Relationship Type="http://schemas.openxmlformats.org/officeDocument/2006/relationships/notesSlide" Target="/ppt/notesSlides/notesSlide19.xml" Id="Rf4cf808a00b54e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481ccb108417e" /><Relationship Type="http://schemas.openxmlformats.org/officeDocument/2006/relationships/notesSlide" Target="/ppt/notesSlides/notesSlide20.xml" Id="Rc9bf935ef42145a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f4fc7905849b3" /><Relationship Type="http://schemas.openxmlformats.org/officeDocument/2006/relationships/notesSlide" Target="/ppt/notesSlides/notesSlide21.xml" Id="R2f5997f9efc749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59F22-14D7-4C34-88E0-DA706D74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ELK-DIAGNOSTICS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3B85E-36F5-44D3-917F-486331C1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48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ES 8 人工驗證報告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240B9-A81A-4A41-8DEB-AC5DCA5F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Bundle Route B｜故障觸發、採集、離線診斷、還原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49960-7756-4DEE-B88D-DF34FE25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5B42D-629F-4CCE-B18C-ABFED9A9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Elasticsearch 8.14.3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2026-07-27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C2DDF-DE7E-4B1E-8D73-AC5F8453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9650"/>
            <a:ext cx="3028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9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39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16 CASES</a:t>
            </a:r>
          </a:p>
        </p:txBody>
      </p:sp>
    </p:spTree>
    <p:extLst>
      <p:ext uri="{BB962C8B-B14F-4D97-AF65-F5344CB8AC3E}">
        <p14:creationId xmlns:p14="http://schemas.microsoft.com/office/powerpoint/2010/main" val="1913294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E347D-296E-48C1-B487-EB6BD324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FB864-B509-459C-AB46-82C16CC3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目標診斷 16／16 符合預期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0E0E5-9339-46DC-8220-EB6FB93D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7F1D5-4182-4AF0-8835-9CBCD184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EA5AA-08C7-4318-9F06-FEFB7776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B6C7E-F0FD-4C75-9CC7-67A5C7C8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基線：ES 8.14.3｜1 node｜cluster green｜basic license｜39 endpoints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8AE16-168C-4776-9F2E-41213E40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3562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FE9F5-07EF-4C7D-AA65-99E22E7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16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2C30F-CF09-4963-8175-360F7B80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Fault 目標規則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符合預期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64921-6E06-4F52-8FC5-F2F4F76C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28900"/>
            <a:ext cx="3562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02404-CCAD-42E7-8A84-EDD03C83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6705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16 / 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F4C8A-FE97-44DF-B8B9-EAB4F685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86250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Post-restore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目標規則回到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ECE56-DFFA-4F3E-BA63-EC172601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35623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9E683-20CD-45ED-AB53-1D76ACA5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67050"/>
            <a:ext cx="2990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6A1B9A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6A1B9A"/>
                </a:solidFill>
                <a:latin typeface="PingFang TC"/>
                <a:ea typeface="PingFang TC"/>
                <a:cs typeface="PingFang TC"/>
              </a:rPr>
              <a:t>14 + 2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2BA58-9B90-4323-BCEB-914BFAA6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86250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14 完整驗證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2 項附條件</a:t>
            </a:r>
          </a:p>
        </p:txBody>
      </p:sp>
    </p:spTree>
    <p:extLst>
      <p:ext uri="{BB962C8B-B14F-4D97-AF65-F5344CB8AC3E}">
        <p14:creationId xmlns:p14="http://schemas.microsoft.com/office/powerpoint/2010/main" val="8985887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B8588F-88FA-4299-8412-968E3F0C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4511E-6DDD-4EC0-B8BB-7D93AA6F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Route B 將採集與診斷完全分離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8DD6C-C1CF-48A9-8EB4-A826107D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E5543-5106-4090-AFD6-7D70E668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93A33-39B2-4C72-A48E-EEF7EF94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1CEA3-7EBA-4213-8B6B-AE9245BB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956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B8BCC4"/>
                </a:solidFill>
                <a:latin typeface="PingFang TC"/>
                <a:ea typeface="PingFang TC"/>
                <a:cs typeface="PingFang TC"/>
              </a:defRPr>
            </a:pPr>
            <a:r>
              <a:rPr sz="3150" b="0">
                <a:solidFill>
                  <a:srgbClr val="B8BCC4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A3F20-C398-4586-9C93-BBB13A50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9563D-D8BF-499E-B671-556DE1BD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2343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CA7F7-6652-471F-A94A-A40C77DE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Trigger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224BF-67EC-4080-8102-F88D17E7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Shell 製造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單一故障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6C3FE-70DF-4F88-83DB-6502F3BC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956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B8BCC4"/>
                </a:solidFill>
                <a:latin typeface="PingFang TC"/>
                <a:ea typeface="PingFang TC"/>
                <a:cs typeface="PingFang TC"/>
              </a:defRPr>
            </a:pPr>
            <a:r>
              <a:rPr sz="3150" b="0">
                <a:solidFill>
                  <a:srgbClr val="B8BCC4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F5619-FE1C-4B57-A27C-8FC216A0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5E7DD-9C87-4381-A365-1AB72FBB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43200"/>
            <a:ext cx="2343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9C34E-2BDA-45DD-965C-E7C9AB76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289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Collect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89BFD-9B4F-47A5-B6D9-666131B5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3380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Shell 採集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39 個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C6365-9732-4E4F-81F9-C05B7AA2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B8BCC4"/>
                </a:solidFill>
                <a:latin typeface="PingFang TC"/>
                <a:ea typeface="PingFang TC"/>
                <a:cs typeface="PingFang TC"/>
              </a:defRPr>
            </a:pPr>
            <a:r>
              <a:rPr sz="3150" b="0">
                <a:solidFill>
                  <a:srgbClr val="B8BCC4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95216-8DA7-4675-8EF3-C52C732B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F0060-90E8-42DD-87BF-80145BDA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43200"/>
            <a:ext cx="2343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DE5E9-3733-479D-9D78-B1F8A333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Diagnose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F8541-4455-4416-86A8-CF19E7CE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3380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Binary 離線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分析 Bundle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9E6CAD-6A30-4DBE-A5F4-BEDCD99F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764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C40BE8-4584-4456-9706-CE384C6E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43200"/>
            <a:ext cx="2343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D4E50-3DFC-4A3E-B49C-797FC089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Restore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463755-AC4F-42DF-81B1-D3CEE54D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3380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Shell 還原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並重新採集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7A446-EC07-4228-BA47-50DA0AD2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診斷階段使用 env -i 清除 ES 連線環境，證明報告只依賴 Bundle。</a:t>
            </a:r>
          </a:p>
        </p:txBody>
      </p:sp>
    </p:spTree>
    <p:extLst>
      <p:ext uri="{BB962C8B-B14F-4D97-AF65-F5344CB8AC3E}">
        <p14:creationId xmlns:p14="http://schemas.microsoft.com/office/powerpoint/2010/main" val="1779981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00F22-E657-43FC-936A-4AFC0369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A6F1E-957F-4A32-AAD1-F38061AA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P01｜叢集層 Allocation 封鎖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596DD-1F75-4ABA-A9C2-F667190D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07492-453B-4195-9BED-D6C82666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1C71D-6232-49AE-BF9C-59845D81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87526-034B-49D9-9794-960E6D1E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20574bca74913"/>
          <a:stretch xmlns:a="http://schemas.openxmlformats.org/drawingml/2006/main"/>
        </p:blipFill>
        <p:spPr>
          <a:xfrm xmlns:a="http://schemas.openxmlformats.org/drawingml/2006/main">
            <a:off x="4781550" y="2949540"/>
            <a:ext cx="6915150" cy="1759021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4A3AC-A30D-49C7-B4DA-E70DE73C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42035-79E6-4AD6-82C1-6AC1782C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rPr>
              <a:t>CRITICAL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7F2BD-E74A-4C48-8A0D-F6BF82B6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cluster.routing.allocation.enable = none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4071B-48A4-4CE7-A37E-FBC3C521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Primary shard 無法配置，叢集轉為 red。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4414E-0361-4769-A1DD-5644FA75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cluster_health = 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CA748-B8C9-465B-9730-07EEA3C6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</p:spTree>
    <p:extLst>
      <p:ext uri="{BB962C8B-B14F-4D97-AF65-F5344CB8AC3E}">
        <p14:creationId xmlns:p14="http://schemas.microsoft.com/office/powerpoint/2010/main" val="19741097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D5993-DA88-4C34-94B2-A2ED8C6F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C13B7-75F3-4C03-BFDC-6B4D1A35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P02｜Index 層 Allocation 封鎖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50412-91D0-44AD-B0DD-DD068F95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F5BB9-87EE-4201-A16D-74BB0A95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09AB0-A7E9-4DE4-BB1B-042E01A7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ED06A-4C04-45E1-8D72-CD9E5494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cd1031fff454f"/>
          <a:stretch xmlns:a="http://schemas.openxmlformats.org/drawingml/2006/main"/>
        </p:blipFill>
        <p:spPr>
          <a:xfrm xmlns:a="http://schemas.openxmlformats.org/drawingml/2006/main">
            <a:off x="495300" y="2552629"/>
            <a:ext cx="6915150" cy="2552843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F6986-D350-45E0-A445-F45CE82A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584D1-EA73-433C-8D0D-2C08C11D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rPr>
              <a:t>CRITICAL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61AC9-E074-4A84-A01C-34DD2711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index.routing.allocation.enable = none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4F27A-2A4B-4F0B-8342-0D442C1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單一 index 的 primary shard 無法配置。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CEAE9-B055-4B10-B3E1-511B7C8E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cluster_health = 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E4957-AA81-48A6-A0D4-6E63A563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67789-75FD-4541-886A-B1D1D13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7105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受影響 index 為 red，index setting 精確判定在 Bundle 中回報 unknown；cluster health 與 allocation guidance 仍正確。</a:t>
            </a:r>
          </a:p>
        </p:txBody>
      </p:sp>
    </p:spTree>
    <p:extLst>
      <p:ext uri="{BB962C8B-B14F-4D97-AF65-F5344CB8AC3E}">
        <p14:creationId xmlns:p14="http://schemas.microsoft.com/office/powerpoint/2010/main" val="2062806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35F14-09F6-45E7-AB00-8286FAFC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CD98A-90C3-4D1F-A699-2168231C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P03｜Replica 無法配置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BDC64-69E7-421E-A2DD-3075054F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10814-09E6-44A5-A79E-6FA0D80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A59D9-B07B-4FF4-9E3C-48969CF9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B4AEC-C2CD-41B3-BE39-2465854D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05983c6254798"/>
          <a:stretch xmlns:a="http://schemas.openxmlformats.org/drawingml/2006/main"/>
        </p:blipFill>
        <p:spPr>
          <a:xfrm xmlns:a="http://schemas.openxmlformats.org/drawingml/2006/main">
            <a:off x="4781550" y="2147084"/>
            <a:ext cx="6915150" cy="3363932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E03C4-E9B3-4994-B25D-7DAEC39A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C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F9DFB-8D52-43A2-AD42-BD3C4404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6C02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D6C02"/>
                </a:solidFill>
                <a:latin typeface="PingFang TC"/>
                <a:ea typeface="PingFang TC"/>
                <a:cs typeface="PingFang TC"/>
              </a:rPr>
              <a:t>WARNING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AD734-4672-475B-8CB3-37119189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單節點建立 1 個 replica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E3D78-0FFB-45EB-BAFC-3FC3CB05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Replica 不能與 primary 位於同一節點，叢集為 yellow。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231AC-1440-49BD-9B12-E8C3D093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cluster_health = warning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02F0B-4C6D-4403-B671-6A244E49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</p:spTree>
    <p:extLst>
      <p:ext uri="{BB962C8B-B14F-4D97-AF65-F5344CB8AC3E}">
        <p14:creationId xmlns:p14="http://schemas.microsoft.com/office/powerpoint/2010/main" val="281696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9EDA5-4119-4E6D-8B84-0AD98A52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30155-979B-4CB6-B972-66F36DFB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P04｜Index Shards-per-node 超限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01113-B3C7-4865-9AA9-787F91A1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485CE-BBDE-40F6-8357-6BE6D943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F2021-7D2F-4C01-B3D7-905BB207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D2CDD-CD7E-4E11-9934-DA378650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d63b151e2496d"/>
          <a:stretch xmlns:a="http://schemas.openxmlformats.org/drawingml/2006/main"/>
        </p:blipFill>
        <p:spPr>
          <a:xfrm xmlns:a="http://schemas.openxmlformats.org/drawingml/2006/main">
            <a:off x="495300" y="2102065"/>
            <a:ext cx="6915150" cy="3453970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1929D-48C6-4883-BE66-FC9209A1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EFAEE-D2B2-4597-BBA6-95B0F24D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rPr>
              <a:t>CRITICAL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36C18-FD66-4C7F-AE0C-611A8891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index.routing.allocation.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total_shards_per_node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63620-09D6-4189-AC57-3E7DC294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shards_limit decider 拒絕配置 primary shard。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61EF1-ABD6-493A-852B-79D8039C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cluster_health = 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45B67-6839-412C-871C-4A205817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</p:spTree>
    <p:extLst>
      <p:ext uri="{BB962C8B-B14F-4D97-AF65-F5344CB8AC3E}">
        <p14:creationId xmlns:p14="http://schemas.microsoft.com/office/powerpoint/2010/main" val="12805809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B9160-77FD-4AC2-A191-BA7A98F3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338D8-4F83-447E-B611-B3B29B42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P05｜叢集 Shard 容量達上限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172CF-9548-43C0-B151-5B00F3A1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F4A2F-D490-48BF-9EF2-BEB99C88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249E2-9D71-4309-82DB-9CF8A9C6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233D3-9B53-4CB7-A7FE-A60D00B6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d9aba4e924662"/>
          <a:stretch xmlns:a="http://schemas.openxmlformats.org/drawingml/2006/main"/>
        </p:blipFill>
        <p:spPr>
          <a:xfrm xmlns:a="http://schemas.openxmlformats.org/drawingml/2006/main">
            <a:off x="4961865" y="1790700"/>
            <a:ext cx="6554521" cy="4076700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7638F-D597-46C7-94D2-5DB12696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82590-789C-43D3-92E9-6B6F25C6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A1B9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A1B9A"/>
                </a:solidFill>
                <a:latin typeface="PingFang TC"/>
                <a:ea typeface="PingFang TC"/>
                <a:cs typeface="PingFang TC"/>
              </a:rPr>
              <a:t>CONDITIONAL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9E88C-1081-4430-8CD4-68C98B78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降低 cluster.max_shards_per_node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BCFCF-F054-43A0-82FA-4B066C0B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Health Report 判定 shards_capacity 為 red。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73232-5A3A-4132-B5DE-636DA93F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shards_capacity = 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9D769-306A-451E-A847-FE32732E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55928-AD3C-45A0-B738-3DCB6D30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048375"/>
            <a:ext cx="7105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多因子案例：同時存在 2 個未配置 replica；容量判定有效，但不是純單因子驗證。</a:t>
            </a:r>
          </a:p>
        </p:txBody>
      </p:sp>
    </p:spTree>
    <p:extLst>
      <p:ext uri="{BB962C8B-B14F-4D97-AF65-F5344CB8AC3E}">
        <p14:creationId xmlns:p14="http://schemas.microsoft.com/office/powerpoint/2010/main" val="1037649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79047-E588-4462-94B0-138EC0C7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922C1-473B-4914-B04E-DD3BA332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P06｜磁碟 Watermark 超限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0E101-8B4F-40F6-BB1C-F167B8F3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EE254-D45A-4A1D-BC79-F196C08C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05B0A-7584-4631-94A8-29332129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32095-FC58-49AF-A411-4C9D92EC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06e8234b74f32"/>
          <a:stretch xmlns:a="http://schemas.openxmlformats.org/drawingml/2006/main"/>
        </p:blipFill>
        <p:spPr>
          <a:xfrm xmlns:a="http://schemas.openxmlformats.org/drawingml/2006/main">
            <a:off x="495300" y="2096653"/>
            <a:ext cx="6915150" cy="3464793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80FD3-1BBA-467F-A26E-5E9EDB01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8EE2E-8A17-47BD-A486-34AED942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rPr>
              <a:t>CRITICAL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CB021-8117-4A44-81F2-7B5B690A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將 low / high / flood_stage 壓低於實際使用率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E159B-C2E8-4469-9160-84914CB2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Health Report 判定磁碟容量不足並限制 index 寫入。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A822E-3860-429F-BCB4-815099CA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disk = 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42543-236F-4116-A368-B93C1B07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</p:spTree>
    <p:extLst>
      <p:ext uri="{BB962C8B-B14F-4D97-AF65-F5344CB8AC3E}">
        <p14:creationId xmlns:p14="http://schemas.microsoft.com/office/powerpoint/2010/main" val="15163502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C065D-0643-4DB7-A99A-DEC1C1B7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DB07A-53DA-4B5F-A163-DF616A9D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P07｜ILM 被停止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24715-2137-45D8-88CD-89820555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BA868-0122-433E-AF00-FF90A1CC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E4EA4-E509-4F68-A963-BD84CEC3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88134-3D49-48CE-8319-B46ECBF1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9ba73d36d4379"/>
          <a:stretch xmlns:a="http://schemas.openxmlformats.org/drawingml/2006/main"/>
        </p:blipFill>
        <p:spPr>
          <a:xfrm xmlns:a="http://schemas.openxmlformats.org/drawingml/2006/main">
            <a:off x="4781550" y="2515860"/>
            <a:ext cx="6915150" cy="2626380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27304-E32C-4538-9CAB-C9022A99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D63E2-CFDB-45E7-8A52-0915072B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rPr>
              <a:t>CRITICAL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47EEB-2CE8-4EBB-94B4-9F8AFA6D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POST _ilm/stop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D9D3B-709F-47A5-98F7-72C7892C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ILM operation_mode 變為 STOPPED。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AE2AB-7390-4A97-B692-2F921B1E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ilm_slm_status = 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07CF1-2951-409C-B5EE-3E85B1FA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</p:spTree>
    <p:extLst>
      <p:ext uri="{BB962C8B-B14F-4D97-AF65-F5344CB8AC3E}">
        <p14:creationId xmlns:p14="http://schemas.microsoft.com/office/powerpoint/2010/main" val="20085855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C2C89-3181-4AB9-8E0E-F650C052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AFE68-5390-482F-9218-1B4D65CC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P08｜ILM 進入 ERROR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724A2-B568-4AB2-9819-65294F01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7BF75-0B6B-4F9F-970A-C165B8F5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72E12-3FBF-4304-B250-D5459E81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0DA9A-D9EA-4C67-9DBD-A594A96D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7a4d67c8345d9"/>
          <a:stretch xmlns:a="http://schemas.openxmlformats.org/drawingml/2006/main"/>
        </p:blipFill>
        <p:spPr>
          <a:xfrm xmlns:a="http://schemas.openxmlformats.org/drawingml/2006/main">
            <a:off x="495300" y="2411386"/>
            <a:ext cx="6915150" cy="2835329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904D8-CCE4-4E8F-9B8B-C927DB4E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D2642-6ADC-4608-A8DA-594D4497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rPr>
              <a:t>CRITICAL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B04ED-75ED-43E6-8CFD-1A60D441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Index 指向不存在的 ILM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247A3-56C6-4C90-A738-91C62E1A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Index 維持 green，但 ILM step 進入 ERROR。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78464-AB05-49A5-867E-DA90EFF1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ilm_slm_status = 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4AF30-880B-4EC4-8AEC-38AAA090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</p:spTree>
    <p:extLst>
      <p:ext uri="{BB962C8B-B14F-4D97-AF65-F5344CB8AC3E}">
        <p14:creationId xmlns:p14="http://schemas.microsoft.com/office/powerpoint/2010/main" val="15949560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49B12-9E04-4749-BE25-96FC6474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85A0F-D8BD-4EF1-A570-BFF4D993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P09｜Mapping 欄位膨脹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767D8-B334-40CA-B4D1-0B9BDC76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83785-2BB0-4297-8F42-E0E79E99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4FB11-9B55-4372-9743-DC7AE46B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BBF24-F161-4870-A2D6-5D0DF615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be8e158d94734"/>
          <a:stretch xmlns:a="http://schemas.openxmlformats.org/drawingml/2006/main"/>
        </p:blipFill>
        <p:spPr>
          <a:xfrm xmlns:a="http://schemas.openxmlformats.org/drawingml/2006/main">
            <a:off x="4781550" y="2921909"/>
            <a:ext cx="6915150" cy="1814282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08072-B015-458B-98A0-C748558E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BB7A6-D4D8-446B-B056-09EC20E2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rPr>
              <a:t>CRITICAL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DBB67-1F38-4A87-99AD-0DB7CE7C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Data stream 建立 1,000 個 mapping 欄位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F286A-2AC7-4BC0-BEC6-E45E9BE7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診斷器保留 .ds-* backing index 並判定達到欄位上限。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06B9A-3E14-4A2D-9748-131CCA81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mapping_explosion = 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3895D-9C4A-4308-81A2-A2AFD47D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7719F-6FC7-4C79-86B9-9069F8DF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048375"/>
            <a:ext cx="7105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本環境預設上限為 1,000；目前產品仍以固定預設值判定，尚未讀取每個 index 的實際上限。</a:t>
            </a:r>
          </a:p>
        </p:txBody>
      </p:sp>
    </p:spTree>
    <p:extLst>
      <p:ext uri="{BB962C8B-B14F-4D97-AF65-F5344CB8AC3E}">
        <p14:creationId xmlns:p14="http://schemas.microsoft.com/office/powerpoint/2010/main" val="9559908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E2E69-94EF-41B5-98C5-F6FE0932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6ADE-AC84-4A0E-B0B6-0DBC1EA3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P10｜Search Slow Log 設定盤點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D3856-3E44-4F37-AE8C-E30AEE85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BAE6C-0D40-4611-9C99-34B16CB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23F67-9FBD-486B-849B-69DFC3B3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5CCA1-12BA-4A91-BFFD-C53D7DAF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4610aa4c84996"/>
          <a:stretch xmlns:a="http://schemas.openxmlformats.org/drawingml/2006/main"/>
        </p:blipFill>
        <p:spPr>
          <a:xfrm xmlns:a="http://schemas.openxmlformats.org/drawingml/2006/main">
            <a:off x="495300" y="2585084"/>
            <a:ext cx="6915150" cy="2487933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44464-9D8B-4EEB-B4BA-7132BD4A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7D347-2350-48E2-B058-2D6CDE73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1500A-7579-4A42-ABAE-8A7806F7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query.warn threshold = 10s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C59EE-4A7D-4700-814D-3EA52920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工具正確列出已開啟 slow log 的 index。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8F5EE-BA97-47A8-80D3-2C601B84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search_slow_log =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80A98-EC06-425E-97E9-69F7719E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03B59-58CF-4FAF-AF1D-03BA735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7105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此項只盤點設定，不讀取或分析 slow log 內容。</a:t>
            </a:r>
          </a:p>
        </p:txBody>
      </p:sp>
    </p:spTree>
    <p:extLst>
      <p:ext uri="{BB962C8B-B14F-4D97-AF65-F5344CB8AC3E}">
        <p14:creationId xmlns:p14="http://schemas.microsoft.com/office/powerpoint/2010/main" val="18724631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F78B7-8E46-4BD6-AD9E-465BC269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727F2-92D9-408D-9CA0-4EB2006F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P11｜Watcher 被手動停止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8D778-EF06-4787-8CA8-93F9F07A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C8C54-CA17-4BB6-9318-CB3865F2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C3041-424B-426E-A6A4-8ABAE49B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EADBA-1FD5-44CA-A218-85A403D7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96c7a10474630"/>
          <a:stretch xmlns:a="http://schemas.openxmlformats.org/drawingml/2006/main"/>
        </p:blipFill>
        <p:spPr>
          <a:xfrm xmlns:a="http://schemas.openxmlformats.org/drawingml/2006/main">
            <a:off x="5403635" y="1790700"/>
            <a:ext cx="5670981" cy="4076700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62EC5-F6A8-4FCA-A98A-86715754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C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11782-BB49-4D9D-A5C4-60A2B9C5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A1B9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A1B9A"/>
                </a:solidFill>
                <a:latin typeface="PingFang TC"/>
                <a:ea typeface="PingFang TC"/>
                <a:cs typeface="PingFang TC"/>
              </a:rPr>
              <a:t>PARTIAL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D402F-4112-4221-8037-06F9EC00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POST _watcher/_stop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E8C23-EE0F-4085-821F-98FF92C8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Watcher stats 回報 manually_stopped=true。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A8EE6-4FA2-4784-8927-DEF4ADC0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watcher = warning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8A5B1-C49D-40D7-9FF5-08241FEC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D23E5-4B86-4900-83B0-609E48CC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048375"/>
            <a:ext cx="7105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Basic license、watch_count=0；只證明 API 狀態可被解析，不能視為完整 Watcher 功能故障驗證。</a:t>
            </a:r>
          </a:p>
        </p:txBody>
      </p:sp>
    </p:spTree>
    <p:extLst>
      <p:ext uri="{BB962C8B-B14F-4D97-AF65-F5344CB8AC3E}">
        <p14:creationId xmlns:p14="http://schemas.microsoft.com/office/powerpoint/2010/main" val="19669351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EBD99-35E1-404D-964D-63138A9D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B0F4F-B92B-4783-A6B3-E7D48C56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P12｜Transform 因欄位型別衝突失敗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9C2DD-8A74-4539-BFDB-7B0D1C4D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956EB-D7E9-4430-80DA-289BE09B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86D8F-FA10-4E28-B5DE-9E2870AA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129F4-359D-4C8D-8D74-1185A990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8677833d04a9c"/>
          <a:stretch xmlns:a="http://schemas.openxmlformats.org/drawingml/2006/main"/>
        </p:blipFill>
        <p:spPr>
          <a:xfrm xmlns:a="http://schemas.openxmlformats.org/drawingml/2006/main">
            <a:off x="495300" y="2110235"/>
            <a:ext cx="6915150" cy="3437631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5EE51-77DD-42CF-867A-3544EEE1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91371-018E-4357-953A-0A8B166D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rPr>
              <a:t>CRITICAL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20ED8-B1E1-4F72-9409-3DACB266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Source g=keyword；Destination g=long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FA8D5-685A-4430-997A-B5A02608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字串值無法寫入 long 欄位，Transform state=failed。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543E9-F95D-41EB-9CB5-D1E15B5B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transforms = 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177E4-AEB3-4CF3-BEF6-2ED8DDD8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</p:spTree>
    <p:extLst>
      <p:ext uri="{BB962C8B-B14F-4D97-AF65-F5344CB8AC3E}">
        <p14:creationId xmlns:p14="http://schemas.microsoft.com/office/powerpoint/2010/main" val="16393052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1C48E-7ADB-41F1-9785-6E61E00D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6F4FF-783E-40FB-BD86-EEF28C5E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P13｜Legacy Monitoring 設定已棄用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1D4C8-5640-4266-9442-A00A85C2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11327-E70A-4E82-94C4-1FB63CD7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B7322-214A-4864-A8B2-5998217F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0B5F8-4F69-4412-AF7D-63B38ED3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5d77f5ea64434"/>
          <a:stretch xmlns:a="http://schemas.openxmlformats.org/drawingml/2006/main"/>
        </p:blipFill>
        <p:spPr>
          <a:xfrm xmlns:a="http://schemas.openxmlformats.org/drawingml/2006/main">
            <a:off x="4781550" y="3110994"/>
            <a:ext cx="6915150" cy="1436112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8E903-3743-47FA-A7D3-C93D565D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C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423C2-C9BD-49E0-AB76-D6BE9E4E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6C02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D6C02"/>
                </a:solidFill>
                <a:latin typeface="PingFang TC"/>
                <a:ea typeface="PingFang TC"/>
                <a:cs typeface="PingFang TC"/>
              </a:rPr>
              <a:t>WARNING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8894C-7468-4A83-BB3D-66FB9281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xpack.monitoring.collection.enabled = true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B3383-AED6-4F29-931B-539C9A63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Migration Deprecations 在 node_settings 回報 warning。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383B2-5FC7-4BD1-BA3C-78EFC86F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upgrade_deprecations = warning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80361-AFDB-48D9-B556-967C92AC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</p:spTree>
    <p:extLst>
      <p:ext uri="{BB962C8B-B14F-4D97-AF65-F5344CB8AC3E}">
        <p14:creationId xmlns:p14="http://schemas.microsoft.com/office/powerpoint/2010/main" val="10481615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9CA70-3B90-4C31-AC92-282AB3E2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890E2-0AE5-4F2B-8ADF-16200846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P14｜Remote Cluster 無法連線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86097-C5D0-47E8-A568-7C741084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37874-62D6-47E6-9AA6-497AD612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36F24-DB0D-4DDD-A337-4BD7696F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D2404-1963-449F-A650-35E175FD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ab75441e3464d"/>
          <a:stretch xmlns:a="http://schemas.openxmlformats.org/drawingml/2006/main"/>
        </p:blipFill>
        <p:spPr>
          <a:xfrm xmlns:a="http://schemas.openxmlformats.org/drawingml/2006/main">
            <a:off x="495300" y="2041517"/>
            <a:ext cx="6915150" cy="3575065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B6555-7E1F-45E9-ACEA-4AC7E0CF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C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6062A-7C9E-452F-AD35-B8C9BBEC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6C02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D6C02"/>
                </a:solidFill>
                <a:latin typeface="PingFang TC"/>
                <a:ea typeface="PingFang TC"/>
                <a:cs typeface="PingFang TC"/>
              </a:rPr>
              <a:t>WARNING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187D3-0207-4DE0-8D66-58A7AD42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Remote seed 指向無服務的 127.0.0.1:9399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55DDB-B561-41D7-A8F1-AD68BA6A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Remote info 回報 connected=false、0 nodes。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6317A-E5E1-403D-87C9-2ECB4FCE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remote_clusters = warning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14995-6CE9-4C50-8BA6-6E27B6F6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</p:spTree>
    <p:extLst>
      <p:ext uri="{BB962C8B-B14F-4D97-AF65-F5344CB8AC3E}">
        <p14:creationId xmlns:p14="http://schemas.microsoft.com/office/powerpoint/2010/main" val="16370689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AC8BB-DCDD-41E1-A58E-276F018C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98F47-5E30-433D-99E7-6D020219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P15｜Ingest Pipeline 持續失敗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7C419-6DE7-43DB-864B-8DE95D02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4842F-6F47-48CA-BFF5-947FBE05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3C3E7-552D-4D9C-9D28-ACAE747F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BFE1C-DD09-4071-8DD6-C97208E3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bc53636244b65"/>
          <a:stretch xmlns:a="http://schemas.openxmlformats.org/drawingml/2006/main"/>
        </p:blipFill>
        <p:spPr>
          <a:xfrm xmlns:a="http://schemas.openxmlformats.org/drawingml/2006/main">
            <a:off x="4781550" y="1934523"/>
            <a:ext cx="6915150" cy="3789053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03290-EE11-43AF-9076-6B27CD04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6C0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83D25-9EE6-4654-9A49-52087BCD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6C02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D6C02"/>
                </a:solidFill>
                <a:latin typeface="PingFang TC"/>
                <a:ea typeface="PingFang TC"/>
                <a:cs typeface="PingFang TC"/>
              </a:rPr>
              <a:t>WARNING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DD4AA-7B63-4679-87AD-925DC6DB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Fail processor 拒絕 10 筆文件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0C0F5-CBF6-4ED6-9FC4-20DF063E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Pipeline stats 累積 count=10、failed=10。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AC096-588B-4D87-811C-5EDA394C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ingest_pipeline_errors = warning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C163C-8F0B-4017-B36F-2A197ABE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</p:spTree>
    <p:extLst>
      <p:ext uri="{BB962C8B-B14F-4D97-AF65-F5344CB8AC3E}">
        <p14:creationId xmlns:p14="http://schemas.microsoft.com/office/powerpoint/2010/main" val="3404261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900D5-8BDC-4F52-9872-F385AB58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FAULT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5E7EE-FFBF-48AC-8D67-595F0C4D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P16｜Index Write Block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A59E8-70A8-4039-AC5B-FE8EA56E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E9E59-1DD7-4D10-BEA3-7EAD833C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CFC7E-852E-47A9-BBD9-3A601A0E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FC90B-67EE-491D-9B6B-5143460E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10565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223facaab4196"/>
          <a:stretch xmlns:a="http://schemas.openxmlformats.org/drawingml/2006/main"/>
        </p:blipFill>
        <p:spPr>
          <a:xfrm xmlns:a="http://schemas.openxmlformats.org/drawingml/2006/main">
            <a:off x="495300" y="2545382"/>
            <a:ext cx="6915150" cy="2567336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ABCAF-0D83-4614-882C-6E1DF80A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2C7BF-C5AC-49B1-A412-B9C74D73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62828"/>
                </a:solidFill>
                <a:latin typeface="PingFang TC"/>
                <a:ea typeface="PingFang TC"/>
                <a:cs typeface="PingFang TC"/>
              </a:rPr>
              <a:t>CRITICAL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93D8F-1BCF-4EEF-93A8-DA10B593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981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觸發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index.blocks.write = true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15798-D62D-487C-9A81-6397CCFE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981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觀測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寫入被 HTTP 403 cluster_block_exception 拒絕。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04BA4-C5E5-428B-9E50-D9ADCA2C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診斷</a:t>
            </a:r>
          </a:p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index_read_write_blocks = 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36BBD-022E-4518-8551-736A5671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981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還原後</a:t>
            </a:r>
          </a:p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E7D32"/>
                </a:solidFill>
                <a:latin typeface="PingFang TC"/>
                <a:ea typeface="PingFang TC"/>
                <a:cs typeface="PingFang TC"/>
              </a:rPr>
              <a:t>目標檢查 = pass</a:t>
            </a:r>
          </a:p>
        </p:txBody>
      </p:sp>
    </p:spTree>
    <p:extLst>
      <p:ext uri="{BB962C8B-B14F-4D97-AF65-F5344CB8AC3E}">
        <p14:creationId xmlns:p14="http://schemas.microsoft.com/office/powerpoint/2010/main" val="980374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1731EC-72F7-49B4-8BC8-4E694675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QUALIFICATIONS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2BAEF-6185-46BD-88A8-17CF7F09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通過不等於沒有邊界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8D86D-1D51-4041-BF88-AA4006E0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D72AE-C472-40EA-838C-4835A441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1C3FF-45BB-4EA2-AF98-F5BC5975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F99FC-EA65-49E4-8885-75EEA589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P05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AA625-E91C-4DAC-9316-FD08489E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145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多因子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314CE-5A83-42FF-A8E5-4E848653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836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Shard capacity 判定有效；同時存在 2 個 unassigned replica。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07DD8-DDA7-41AF-B5D3-6291AB9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72107-8198-494C-8507-EF8E19CC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P11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6128B-266D-449F-8AAA-F4ECF7D0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527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授權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9D028-16C0-4511-82C0-544B6A53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836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Basic license、watch_count=0；僅驗證 API 狀態解析。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03BCB-15FB-4505-9181-D57B4601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6EA9D-CA12-4BEA-9DCB-4665A564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P09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D539C-F84C-4DA1-A258-684AE075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門檻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BBDF1-2D71-4E5C-B628-6C1D1BBF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90900"/>
            <a:ext cx="836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目前使用固定 1,000；尚未讀取 index 實際 total_fields.limit。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1D431-A2F1-4C09-8AAD-43A98BB6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B5B1E-EDD6-4580-A2FD-D6B48FFE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P10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5900E-80FD-401F-BDAF-64E5D950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291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資料範圍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D52B0-6603-4BEF-B8A9-F9ABF795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9100"/>
            <a:ext cx="836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只盤點 slow-log 設定，不分析 slow-log 事件。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139D6D-1008-411F-B33B-7E19DE45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C81858-F55B-43D1-B18F-B3A23124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E0E217-2891-4261-9FA2-7FB90C22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673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環境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CD5C9-E455-45D0-8545-BBD79CCA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67300"/>
            <a:ext cx="836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單節點造成 master SPOF／replica 韌性 warning，屬測試背景。</a:t>
            </a:r>
          </a:p>
        </p:txBody>
      </p:sp>
    </p:spTree>
    <p:extLst>
      <p:ext uri="{BB962C8B-B14F-4D97-AF65-F5344CB8AC3E}">
        <p14:creationId xmlns:p14="http://schemas.microsoft.com/office/powerpoint/2010/main" val="13409645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B9578-C681-4742-BB04-D3585ACB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D8DFF"/>
                </a:solidFill>
                <a:latin typeface="PingFang TC"/>
                <a:ea typeface="PingFang TC"/>
                <a:cs typeface="PingFang TC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586C4-7F66-4DC2-A725-AD02AF9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14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Bundle Route B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已具備可重複驗證基礎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D16EE-6158-44FA-AB03-AB9FF4C1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20BBC-6F1F-4502-9CE5-A3A37ED3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修正 P09 實際門檻讀取｜加入授權感知 P11｜決定是否補跑純單因子 P05｜複驗 ES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69473-9CDD-4006-B3F2-4A3E07DD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6FDA0-6406-47E7-8A29-2A3A6FEE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ES 8 MANUAL 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0D742-5FA0-48F7-BB08-F21832AA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5F6368"/>
                </a:solidFill>
                <a:latin typeface="PingFang TC"/>
                <a:ea typeface="PingFang TC"/>
                <a:cs typeface="PingFang T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99198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2026-07-27T09:45:13.0390000Z</dcterms:created>
  <dcterms:modified xsi:type="dcterms:W3CDTF">2026-07-27T09:45:13.0390000Z</dcterms:modified>
</coreProperties>
</file>