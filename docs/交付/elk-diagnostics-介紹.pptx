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6986"/>
  </p:normalViewPr>
  <p:slideViewPr>
    <p:cSldViewPr snapToGrid="0">
      <p:cViewPr>
        <p:scale>
          <a:sx n="115" d="100"/>
          <a:sy n="115" d="100"/>
        </p:scale>
        <p:origin x="175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封面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4;g273853f358d_0_28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39028"/>
          </a:xfrm>
          <a:prstGeom prst="rect">
            <a:avLst/>
          </a:prstGeom>
          <a:ln>
            <a:noFill/>
          </a:ln>
        </p:spPr>
      </p:pic>
      <p:sp>
        <p:nvSpPr>
          <p:cNvPr id="15" name="Google Shape;15;g273853f358d_0_28">
            <a:extLst>
              <a:ext uri="{FF2B5EF4-FFF2-40B4-BE49-F238E27FC236}">
                <a16:creationId xmlns:a16="http://schemas.microsoft.com/office/drawing/2014/main" id="{3253FE1A-699C-420C-A18D-E4991528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575" y="1766225"/>
            <a:ext cx="4587300" cy="11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g273853f358d_0_28">
            <a:extLst>
              <a:ext uri="{FF2B5EF4-FFF2-40B4-BE49-F238E27FC236}">
                <a16:creationId xmlns:a16="http://schemas.microsoft.com/office/drawing/2014/main" id="{ACDD5CBA-8F42-4F98-9366-064CB5CAA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475" y="1353975"/>
            <a:ext cx="45873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g273853f358d_0_28">
            <a:extLst>
              <a:ext uri="{FF2B5EF4-FFF2-40B4-BE49-F238E27FC236}">
                <a16:creationId xmlns:a16="http://schemas.microsoft.com/office/drawing/2014/main" id="{57A5A644-4362-44FB-AEC3-121F87191A9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08475" y="3060550"/>
            <a:ext cx="4587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None/>
              <a:defRPr sz="1300">
                <a:solidFill>
                  <a:schemeClr val="accent3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481"/>
              </a:buClr>
              <a:buSzPts val="1400"/>
              <a:buNone/>
              <a:defRPr>
                <a:solidFill>
                  <a:srgbClr val="66748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481"/>
              </a:buClr>
              <a:buSzPts val="1400"/>
              <a:buNone/>
              <a:defRPr>
                <a:solidFill>
                  <a:srgbClr val="66748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481"/>
              </a:buClr>
              <a:buSzPts val="1400"/>
              <a:buNone/>
              <a:defRPr>
                <a:solidFill>
                  <a:srgbClr val="66748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481"/>
              </a:buClr>
              <a:buSzPts val="1400"/>
              <a:buNone/>
              <a:defRPr>
                <a:solidFill>
                  <a:srgbClr val="66748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481"/>
              </a:buClr>
              <a:buSzPts val="1400"/>
              <a:buNone/>
              <a:defRPr>
                <a:solidFill>
                  <a:srgbClr val="66748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481"/>
              </a:buClr>
              <a:buSzPts val="1400"/>
              <a:buNone/>
              <a:defRPr>
                <a:solidFill>
                  <a:srgbClr val="66748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481"/>
              </a:buClr>
              <a:buSzPts val="1400"/>
              <a:buNone/>
              <a:defRPr>
                <a:solidFill>
                  <a:srgbClr val="66748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481"/>
              </a:buClr>
              <a:buSzPts val="1400"/>
              <a:buNone/>
              <a:defRPr>
                <a:solidFill>
                  <a:srgbClr val="667481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19;g273853f358d_0_28"/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59" b="49"/>
          <a:stretch/>
        </p:blipFill>
        <p:spPr>
          <a:xfrm>
            <a:off x="7241945" y="4661700"/>
            <a:ext cx="1625149" cy="274975"/>
          </a:xfrm>
          <a:prstGeom prst="rect">
            <a:avLst/>
          </a:prstGeom>
          <a:ln>
            <a:noFill/>
          </a:ln>
        </p:spPr>
      </p:pic>
      <p:pic>
        <p:nvPicPr>
          <p:cNvPr id="48" name="Google Shape;20;g273853f358d_0_2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425" y="4635375"/>
            <a:ext cx="2391575" cy="135650"/>
          </a:xfrm>
          <a:prstGeom prst="rect">
            <a:avLst/>
          </a:prstGeom>
          <a:ln>
            <a:noFill/>
          </a:ln>
        </p:spPr>
      </p:pic>
      <p:pic>
        <p:nvPicPr>
          <p:cNvPr id="49" name="Google Shape;21;g273853f358d_0_28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6900" y="4781840"/>
            <a:ext cx="1636749" cy="187050"/>
          </a:xfrm>
          <a:prstGeom prst="rect">
            <a:avLst/>
          </a:prstGeom>
          <a:ln>
            <a:noFill/>
          </a:ln>
        </p:spPr>
      </p:pic>
      <p:pic>
        <p:nvPicPr>
          <p:cNvPr id="50" name="Google Shape;22;g273853f358d_0_28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1725" y="416900"/>
            <a:ext cx="3096002" cy="379260"/>
          </a:xfrm>
          <a:prstGeom prst="rect">
            <a:avLst/>
          </a:prstGeom>
          <a:ln>
            <a:noFill/>
          </a:ln>
        </p:spPr>
      </p:pic>
      <p:cxnSp>
        <p:nvCxnSpPr>
          <p:cNvPr id="51" name="Google Shape;23;g273853f358d_0_28"/>
          <p:cNvCxnSpPr/>
          <p:nvPr/>
        </p:nvCxnSpPr>
        <p:spPr>
          <a:xfrm>
            <a:off x="771725" y="3013890"/>
            <a:ext cx="4865700" cy="0"/>
          </a:xfrm>
          <a:prstGeom prst="straightConnector1">
            <a:avLst/>
          </a:prstGeom>
          <a:ln w="9525" cap="flat">
            <a:solidFill>
              <a:srgbClr val="CED3D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內文-空白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7">
            <a:extLst>
              <a:ext uri="{FF2B5EF4-FFF2-40B4-BE49-F238E27FC236}">
                <a16:creationId xmlns:a16="http://schemas.microsoft.com/office/drawing/2014/main" id="{AEC0E588-8C1F-4DE3-B914-D9009DF8A4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6" name="Google Shape;26;p77">
            <a:extLst>
              <a:ext uri="{FF2B5EF4-FFF2-40B4-BE49-F238E27FC236}">
                <a16:creationId xmlns:a16="http://schemas.microsoft.com/office/drawing/2014/main" id="{49ED4F61-4D9A-4080-BA75-162B0AC089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內頁-標題內文">
  <p:cSld name="1_內頁-只有標題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73853f358d_0_13">
            <a:extLst>
              <a:ext uri="{FF2B5EF4-FFF2-40B4-BE49-F238E27FC236}">
                <a16:creationId xmlns:a16="http://schemas.microsoft.com/office/drawing/2014/main" id="{B3BA7AEC-86C0-4DA3-9719-9E90FDA8B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982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i="0" u="none" cap="none">
                <a:solidFill>
                  <a:schemeClr val="accent1"/>
                </a:solidFill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g273853f358d_0_13">
            <a:extLst>
              <a:ext uri="{FF2B5EF4-FFF2-40B4-BE49-F238E27FC236}">
                <a16:creationId xmlns:a16="http://schemas.microsoft.com/office/drawing/2014/main" id="{413A3303-94D9-4089-ACD8-4C5E1A6F9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200" y="788400"/>
            <a:ext cx="85212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 i="0" u="none" cap="none">
                <a:solidFill>
                  <a:schemeClr val="dk1"/>
                </a:solidFill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 i="0" u="none" cap="none">
                <a:solidFill>
                  <a:schemeClr val="dk1"/>
                </a:solidFill>
              </a:defRPr>
            </a:lvl2pPr>
            <a:lvl3pPr marL="1371600" marR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 i="0" u="none" cap="none">
                <a:solidFill>
                  <a:schemeClr val="dk1"/>
                </a:solidFill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 i="0" u="none" cap="none">
                <a:solidFill>
                  <a:schemeClr val="dk1"/>
                </a:solidFill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 i="0" u="none" cap="none">
                <a:solidFill>
                  <a:schemeClr val="dk1"/>
                </a:solidFill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 i="0" u="none" cap="none">
                <a:solidFill>
                  <a:schemeClr val="dk1"/>
                </a:solidFill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 i="0" u="none" cap="none">
                <a:solidFill>
                  <a:schemeClr val="dk1"/>
                </a:solidFill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 i="0" u="none" cap="none">
                <a:solidFill>
                  <a:schemeClr val="dk1"/>
                </a:solidFill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 i="0" u="non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g273853f358d_0_13">
            <a:extLst>
              <a:ext uri="{FF2B5EF4-FFF2-40B4-BE49-F238E27FC236}">
                <a16:creationId xmlns:a16="http://schemas.microsoft.com/office/drawing/2014/main" id="{39F78350-3203-43B1-920F-B0BA14DA94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內頁-只有標題">
  <p:cSld name="1_內頁-只有標題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73853f358d_0_24">
            <a:extLst>
              <a:ext uri="{FF2B5EF4-FFF2-40B4-BE49-F238E27FC236}">
                <a16:creationId xmlns:a16="http://schemas.microsoft.com/office/drawing/2014/main" id="{73FDB433-131F-44D3-9167-ED75FE4BC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982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i="0" u="none" cap="none">
                <a:solidFill>
                  <a:schemeClr val="accent1"/>
                </a:solidFill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 i="0" u="none" cap="none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g273853f358d_0_24">
            <a:extLst>
              <a:ext uri="{FF2B5EF4-FFF2-40B4-BE49-F238E27FC236}">
                <a16:creationId xmlns:a16="http://schemas.microsoft.com/office/drawing/2014/main" id="{BC4D221A-3E22-44F3-ACE8-94C0925B1E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內頁-斜角僅標題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73853f358d_0_58">
            <a:extLst>
              <a:ext uri="{FF2B5EF4-FFF2-40B4-BE49-F238E27FC236}">
                <a16:creationId xmlns:a16="http://schemas.microsoft.com/office/drawing/2014/main" id="{1E6BC1D2-9C84-474E-A37F-C12DD961BD37}"/>
              </a:ext>
            </a:extLst>
          </p:cNvPr>
          <p:cNvSpPr>
            <a:spLocks noGrp="1"/>
          </p:cNvSpPr>
          <p:nvPr/>
        </p:nvSpPr>
        <p:spPr>
          <a:xfrm rot="5400000">
            <a:off x="-26925" y="27150"/>
            <a:ext cx="4323900" cy="4269600"/>
          </a:xfrm>
          <a:prstGeom prst="rtTriangle">
            <a:avLst/>
          </a:prstGeom>
          <a:solidFill>
            <a:srgbClr val="04688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6" name="Google Shape;36;g273853f358d_0_58">
            <a:extLst>
              <a:ext uri="{FF2B5EF4-FFF2-40B4-BE49-F238E27FC236}">
                <a16:creationId xmlns:a16="http://schemas.microsoft.com/office/drawing/2014/main" id="{E9581273-8FC5-42E1-A131-9EE884E2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5" y="247325"/>
            <a:ext cx="27318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endParaRPr/>
          </a:p>
        </p:txBody>
      </p:sp>
      <p:sp>
        <p:nvSpPr>
          <p:cNvPr id="37" name="Google Shape;37;g273853f358d_0_58">
            <a:extLst>
              <a:ext uri="{FF2B5EF4-FFF2-40B4-BE49-F238E27FC236}">
                <a16:creationId xmlns:a16="http://schemas.microsoft.com/office/drawing/2014/main" id="{2E1B3045-5ED3-4782-99ED-D0B2C8AC35BF}"/>
              </a:ext>
            </a:extLst>
          </p:cNvPr>
          <p:cNvSpPr>
            <a:spLocks noGrp="1"/>
          </p:cNvSpPr>
          <p:nvPr/>
        </p:nvSpPr>
        <p:spPr>
          <a:xfrm>
            <a:off x="420375" y="1468956"/>
            <a:ext cx="499800" cy="5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8" name="Google Shape;38;g273853f358d_0_58">
            <a:extLst>
              <a:ext uri="{FF2B5EF4-FFF2-40B4-BE49-F238E27FC236}">
                <a16:creationId xmlns:a16="http://schemas.microsoft.com/office/drawing/2014/main" id="{26930B8D-9F73-421A-AC08-7D87F657281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內頁-斜角標題與圖片內文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73853f358d_0_66">
            <a:extLst>
              <a:ext uri="{FF2B5EF4-FFF2-40B4-BE49-F238E27FC236}">
                <a16:creationId xmlns:a16="http://schemas.microsoft.com/office/drawing/2014/main" id="{47F2210F-5CFB-4C37-9B35-8D2F71AC9B09}"/>
              </a:ext>
            </a:extLst>
          </p:cNvPr>
          <p:cNvSpPr>
            <a:spLocks noGrp="1"/>
          </p:cNvSpPr>
          <p:nvPr/>
        </p:nvSpPr>
        <p:spPr>
          <a:xfrm rot="5400000">
            <a:off x="-26925" y="27150"/>
            <a:ext cx="4323900" cy="4269600"/>
          </a:xfrm>
          <a:prstGeom prst="rtTriangle">
            <a:avLst/>
          </a:prstGeom>
          <a:solidFill>
            <a:srgbClr val="04688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1" name="Google Shape;41;g273853f358d_0_66">
            <a:extLst>
              <a:ext uri="{FF2B5EF4-FFF2-40B4-BE49-F238E27FC236}">
                <a16:creationId xmlns:a16="http://schemas.microsoft.com/office/drawing/2014/main" id="{19F2003D-5FC5-40CA-B40B-F320535B9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4" y="247325"/>
            <a:ext cx="27549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JhengHei"/>
              <a:buNone/>
              <a:defRPr sz="2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endParaRPr/>
          </a:p>
        </p:txBody>
      </p:sp>
      <p:sp>
        <p:nvSpPr>
          <p:cNvPr id="42" name="Google Shape;42;g273853f358d_0_66">
            <a:extLst>
              <a:ext uri="{FF2B5EF4-FFF2-40B4-BE49-F238E27FC236}">
                <a16:creationId xmlns:a16="http://schemas.microsoft.com/office/drawing/2014/main" id="{230B3F94-E5CF-41A0-AE95-3A6C41A1A4D9}"/>
              </a:ext>
            </a:extLst>
          </p:cNvPr>
          <p:cNvSpPr>
            <a:spLocks noGrp="1"/>
          </p:cNvSpPr>
          <p:nvPr/>
        </p:nvSpPr>
        <p:spPr>
          <a:xfrm>
            <a:off x="420375" y="1468956"/>
            <a:ext cx="499800" cy="5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3" name="Google Shape;43;g273853f358d_0_66">
            <a:extLst>
              <a:ext uri="{FF2B5EF4-FFF2-40B4-BE49-F238E27FC236}">
                <a16:creationId xmlns:a16="http://schemas.microsoft.com/office/drawing/2014/main" id="{1D40CA83-D85C-4B2D-B009-2CA8F0E70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9300" y="480175"/>
            <a:ext cx="3873000" cy="4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273853f358d_0_66">
            <a:extLst>
              <a:ext uri="{FF2B5EF4-FFF2-40B4-BE49-F238E27FC236}">
                <a16:creationId xmlns:a16="http://schemas.microsoft.com/office/drawing/2014/main" id="{8F84FB8F-E1C7-4FA1-931B-20E640EAE6D6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215500" y="1528975"/>
            <a:ext cx="3536700" cy="2973600"/>
          </a:xfrm>
          <a:prstGeom prst="roundRect">
            <a:avLst>
              <a:gd name="adj" fmla="val 9237"/>
            </a:avLst>
          </a:prstGeom>
          <a:noFill/>
          <a:ln>
            <a:noFill/>
          </a:ln>
        </p:spPr>
      </p:sp>
      <p:sp>
        <p:nvSpPr>
          <p:cNvPr id="45" name="Google Shape;45;g273853f358d_0_66">
            <a:extLst>
              <a:ext uri="{FF2B5EF4-FFF2-40B4-BE49-F238E27FC236}">
                <a16:creationId xmlns:a16="http://schemas.microsoft.com/office/drawing/2014/main" id="{922D63B0-A24C-4A13-B0BE-4C0C0ECAEB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蝴蝶頁01-用於無編碼大綱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47;g273853f358d_0_40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39025"/>
          </a:xfrm>
          <a:prstGeom prst="rect">
            <a:avLst/>
          </a:prstGeom>
          <a:ln>
            <a:noFill/>
          </a:ln>
        </p:spPr>
      </p:pic>
      <p:sp>
        <p:nvSpPr>
          <p:cNvPr id="48" name="Google Shape;48;g273853f358d_0_40">
            <a:extLst>
              <a:ext uri="{FF2B5EF4-FFF2-40B4-BE49-F238E27FC236}">
                <a16:creationId xmlns:a16="http://schemas.microsoft.com/office/drawing/2014/main" id="{5E7A2238-3254-48C7-B1D2-4C45E1361870}"/>
              </a:ext>
            </a:extLst>
          </p:cNvPr>
          <p:cNvSpPr>
            <a:spLocks noGrp="1"/>
          </p:cNvSpPr>
          <p:nvPr/>
        </p:nvSpPr>
        <p:spPr>
          <a:xfrm>
            <a:off x="4042500" y="2614225"/>
            <a:ext cx="1059000" cy="50100"/>
          </a:xfrm>
          <a:prstGeom prst="roundRect">
            <a:avLst>
              <a:gd name="adj" fmla="val 50000"/>
            </a:avLst>
          </a:prstGeom>
          <a:solidFill>
            <a:srgbClr val="83CCD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9" name="Google Shape;49;g273853f358d_0_40">
            <a:extLst>
              <a:ext uri="{FF2B5EF4-FFF2-40B4-BE49-F238E27FC236}">
                <a16:creationId xmlns:a16="http://schemas.microsoft.com/office/drawing/2014/main" id="{239E05B2-D087-4E26-91C9-36BAD2E2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550" y="1172925"/>
            <a:ext cx="56520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g273853f358d_0_40">
            <a:extLst>
              <a:ext uri="{FF2B5EF4-FFF2-40B4-BE49-F238E27FC236}">
                <a16:creationId xmlns:a16="http://schemas.microsoft.com/office/drawing/2014/main" id="{A9E25F16-59EE-4662-BDCB-D00E6C7E3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5425" y="2904725"/>
            <a:ext cx="56520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1">
                <a:solidFill>
                  <a:schemeClr val="accent4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9" name="Google Shape;52;g273853f358d_0_40"/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10"/>
          <a:stretch/>
        </p:blipFill>
        <p:spPr>
          <a:xfrm>
            <a:off x="7241945" y="4661700"/>
            <a:ext cx="1625149" cy="274975"/>
          </a:xfrm>
          <a:prstGeom prst="rect">
            <a:avLst/>
          </a:prstGeom>
          <a:ln>
            <a:noFill/>
          </a:ln>
        </p:spPr>
      </p:pic>
      <p:pic>
        <p:nvPicPr>
          <p:cNvPr id="60" name="Google Shape;53;g273853f358d_0_40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275425" y="4635375"/>
            <a:ext cx="2391575" cy="135650"/>
          </a:xfrm>
          <a:prstGeom prst="rect">
            <a:avLst/>
          </a:prstGeom>
          <a:ln>
            <a:noFill/>
          </a:ln>
        </p:spPr>
      </p:pic>
      <p:pic>
        <p:nvPicPr>
          <p:cNvPr id="61" name="Google Shape;54;g273853f358d_0_40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276900" y="4781840"/>
            <a:ext cx="1636749" cy="1870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內文-案例 2">
  <p:cSld name="CUSTOM_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3853f358d_0_182">
            <a:extLst>
              <a:ext uri="{FF2B5EF4-FFF2-40B4-BE49-F238E27FC236}">
                <a16:creationId xmlns:a16="http://schemas.microsoft.com/office/drawing/2014/main" id="{66EDF79C-2D2B-48ED-9B7C-461B6E25E713}"/>
              </a:ext>
            </a:extLst>
          </p:cNvPr>
          <p:cNvSpPr>
            <a:spLocks noGrp="1"/>
          </p:cNvSpPr>
          <p:nvPr/>
        </p:nvSpPr>
        <p:spPr>
          <a:xfrm rot="-5400000">
            <a:off x="2992950" y="-763650"/>
            <a:ext cx="5631300" cy="6670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>
              <a:alpha val="7098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65" name="Google Shape;57;g273853f358d_0_182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952463" y="-963975"/>
            <a:ext cx="4018674" cy="4018674"/>
          </a:xfrm>
          <a:prstGeom prst="rect">
            <a:avLst/>
          </a:prstGeom>
          <a:ln>
            <a:noFill/>
          </a:ln>
        </p:spPr>
      </p:pic>
      <p:sp>
        <p:nvSpPr>
          <p:cNvPr id="58" name="Google Shape;58;g273853f358d_0_182">
            <a:extLst>
              <a:ext uri="{FF2B5EF4-FFF2-40B4-BE49-F238E27FC236}">
                <a16:creationId xmlns:a16="http://schemas.microsoft.com/office/drawing/2014/main" id="{7F402043-B8C3-41F3-9374-BB45E95F4C02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 rot="-2700000">
            <a:off x="251079" y="-927187"/>
            <a:ext cx="2077197" cy="391426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59" name="Google Shape;59;g273853f358d_0_182">
            <a:extLst>
              <a:ext uri="{FF2B5EF4-FFF2-40B4-BE49-F238E27FC236}">
                <a16:creationId xmlns:a16="http://schemas.microsoft.com/office/drawing/2014/main" id="{27387088-74BE-4B90-B72E-1B606F12F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980775"/>
            <a:ext cx="24309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g273853f358d_0_182">
            <a:extLst>
              <a:ext uri="{FF2B5EF4-FFF2-40B4-BE49-F238E27FC236}">
                <a16:creationId xmlns:a16="http://schemas.microsoft.com/office/drawing/2014/main" id="{2F5D962A-2981-4E0E-A2DB-C700BBBCB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50" y="3664325"/>
            <a:ext cx="2430900" cy="8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>
                <a:solidFill>
                  <a:schemeClr val="dk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273853f358d_0_182">
            <a:extLst>
              <a:ext uri="{FF2B5EF4-FFF2-40B4-BE49-F238E27FC236}">
                <a16:creationId xmlns:a16="http://schemas.microsoft.com/office/drawing/2014/main" id="{2468C7A1-5376-4E41-8CE3-4854AE3CAA9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0" name="Google Shape;62;g273853f358d_0_182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1945" y="4661700"/>
            <a:ext cx="1625149" cy="27497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內文-案例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73853f358d_0_79">
            <a:extLst>
              <a:ext uri="{FF2B5EF4-FFF2-40B4-BE49-F238E27FC236}">
                <a16:creationId xmlns:a16="http://schemas.microsoft.com/office/drawing/2014/main" id="{68293636-35A1-4CD0-811D-94B5CA94A542}"/>
              </a:ext>
            </a:extLst>
          </p:cNvPr>
          <p:cNvSpPr>
            <a:spLocks noGrp="1"/>
          </p:cNvSpPr>
          <p:nvPr/>
        </p:nvSpPr>
        <p:spPr>
          <a:xfrm rot="-5400000">
            <a:off x="2992950" y="-763650"/>
            <a:ext cx="5631300" cy="6670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>
              <a:alpha val="7098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73" name="Google Shape;65;g273853f358d_0_7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946625" y="-963975"/>
            <a:ext cx="4018674" cy="4018674"/>
          </a:xfrm>
          <a:prstGeom prst="rect">
            <a:avLst/>
          </a:prstGeom>
          <a:ln>
            <a:noFill/>
          </a:ln>
        </p:spPr>
      </p:pic>
      <p:sp>
        <p:nvSpPr>
          <p:cNvPr id="66" name="Google Shape;66;g273853f358d_0_79">
            <a:extLst>
              <a:ext uri="{FF2B5EF4-FFF2-40B4-BE49-F238E27FC236}">
                <a16:creationId xmlns:a16="http://schemas.microsoft.com/office/drawing/2014/main" id="{95137B12-C7D2-424C-BD50-43B556B1B164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 rot="-2700000">
            <a:off x="251079" y="-927187"/>
            <a:ext cx="2077197" cy="391426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67" name="Google Shape;67;g273853f358d_0_79">
            <a:extLst>
              <a:ext uri="{FF2B5EF4-FFF2-40B4-BE49-F238E27FC236}">
                <a16:creationId xmlns:a16="http://schemas.microsoft.com/office/drawing/2014/main" id="{2ABED89B-52D0-4701-A7C8-202CD828A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980775"/>
            <a:ext cx="24309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100"/>
              <a:buNone/>
              <a:defRPr sz="4100">
                <a:solidFill>
                  <a:schemeClr val="accent3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273853f358d_0_79">
            <a:extLst>
              <a:ext uri="{FF2B5EF4-FFF2-40B4-BE49-F238E27FC236}">
                <a16:creationId xmlns:a16="http://schemas.microsoft.com/office/drawing/2014/main" id="{DD814E17-672B-43C5-A91C-E60EDEB41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50" y="3664325"/>
            <a:ext cx="2430900" cy="8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273853f358d_0_79">
            <a:extLst>
              <a:ext uri="{FF2B5EF4-FFF2-40B4-BE49-F238E27FC236}">
                <a16:creationId xmlns:a16="http://schemas.microsoft.com/office/drawing/2014/main" id="{07705A9A-B591-4625-81E4-0B4AA2726C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8" name="Google Shape;70;g273853f358d_0_79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1945" y="4661700"/>
            <a:ext cx="1625149" cy="27497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內文-案例3-通用版型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85933c65b_0_4">
            <a:extLst>
              <a:ext uri="{FF2B5EF4-FFF2-40B4-BE49-F238E27FC236}">
                <a16:creationId xmlns:a16="http://schemas.microsoft.com/office/drawing/2014/main" id="{7CC4A5CA-0293-44EE-8F9E-9985C95AE8AE}"/>
              </a:ext>
            </a:extLst>
          </p:cNvPr>
          <p:cNvSpPr>
            <a:spLocks noGrp="1"/>
          </p:cNvSpPr>
          <p:nvPr/>
        </p:nvSpPr>
        <p:spPr>
          <a:xfrm rot="-5400000">
            <a:off x="3806950" y="-763650"/>
            <a:ext cx="5631300" cy="6670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>
              <a:alpha val="7137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3" name="Google Shape;73;g2e85933c65b_0_4">
            <a:extLst>
              <a:ext uri="{FF2B5EF4-FFF2-40B4-BE49-F238E27FC236}">
                <a16:creationId xmlns:a16="http://schemas.microsoft.com/office/drawing/2014/main" id="{A6747AE5-11BD-43BA-B15C-9EEB112A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47325"/>
            <a:ext cx="8520600" cy="572700"/>
          </a:xfrm>
          <a:prstGeom prst="rect">
            <a:avLst/>
          </a:prstGeom>
        </p:spPr>
        <p:txBody>
          <a:bodyPr spcFirstLastPara="1" wrap="square" lIns="36000" tIns="34275" rIns="36000" bIns="3427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g2e85933c65b_0_4">
            <a:extLst>
              <a:ext uri="{FF2B5EF4-FFF2-40B4-BE49-F238E27FC236}">
                <a16:creationId xmlns:a16="http://schemas.microsoft.com/office/drawing/2014/main" id="{6159B144-FAAF-4C0A-98A0-478836E5BB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9" name="Google Shape;75;g2e85933c65b_0_4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41945" y="4661700"/>
            <a:ext cx="1625149" cy="27497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結束頁-純結尾資訊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77;g273853f358d_0_2048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39031"/>
          </a:xfrm>
          <a:prstGeom prst="rect">
            <a:avLst/>
          </a:prstGeom>
          <a:ln>
            <a:noFill/>
          </a:ln>
        </p:spPr>
      </p:pic>
      <p:sp>
        <p:nvSpPr>
          <p:cNvPr id="78" name="Google Shape;78;g273853f358d_0_2048">
            <a:extLst>
              <a:ext uri="{FF2B5EF4-FFF2-40B4-BE49-F238E27FC236}">
                <a16:creationId xmlns:a16="http://schemas.microsoft.com/office/drawing/2014/main" id="{C6872BC4-B464-4972-B9CD-EC8E5BF85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950" y="1888000"/>
            <a:ext cx="2559900" cy="1437300"/>
          </a:xfrm>
          <a:prstGeom prst="rect">
            <a:avLst/>
          </a:prstGeom>
        </p:spPr>
        <p:txBody>
          <a:bodyPr spcFirstLastPara="1" wrap="square" lIns="36000" tIns="34275" rIns="36000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pic>
        <p:nvPicPr>
          <p:cNvPr id="85" name="Google Shape;80;g273853f358d_0_2048"/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10"/>
          <a:stretch/>
        </p:blipFill>
        <p:spPr>
          <a:xfrm>
            <a:off x="7241945" y="4661700"/>
            <a:ext cx="1625149" cy="274975"/>
          </a:xfrm>
          <a:prstGeom prst="rect">
            <a:avLst/>
          </a:prstGeom>
          <a:ln>
            <a:noFill/>
          </a:ln>
        </p:spPr>
      </p:pic>
      <p:pic>
        <p:nvPicPr>
          <p:cNvPr id="86" name="Google Shape;81;g273853f358d_0_204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425" y="4635375"/>
            <a:ext cx="2391575" cy="135650"/>
          </a:xfrm>
          <a:prstGeom prst="rect">
            <a:avLst/>
          </a:prstGeom>
          <a:ln>
            <a:noFill/>
          </a:ln>
        </p:spPr>
      </p:pic>
      <p:pic>
        <p:nvPicPr>
          <p:cNvPr id="87" name="Google Shape;82;g273853f358d_0_2048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6900" y="4781840"/>
            <a:ext cx="1636749" cy="1870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結束頁-含額外資訊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84;g2739bcec289_1_0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39031"/>
          </a:xfrm>
          <a:prstGeom prst="rect">
            <a:avLst/>
          </a:prstGeom>
          <a:ln>
            <a:noFill/>
          </a:ln>
        </p:spPr>
      </p:pic>
      <p:sp>
        <p:nvSpPr>
          <p:cNvPr id="85" name="Google Shape;85;g2739bcec289_1_0">
            <a:extLst>
              <a:ext uri="{FF2B5EF4-FFF2-40B4-BE49-F238E27FC236}">
                <a16:creationId xmlns:a16="http://schemas.microsoft.com/office/drawing/2014/main" id="{4F38CE2A-A684-4799-95BE-EC5E128E2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050" y="1116670"/>
            <a:ext cx="4340100" cy="700500"/>
          </a:xfrm>
          <a:prstGeom prst="rect">
            <a:avLst/>
          </a:prstGeom>
          <a:noFill/>
        </p:spPr>
        <p:txBody>
          <a:bodyPr spcFirstLastPara="1" wrap="square" lIns="36000" tIns="34275" rIns="36000" bIns="3427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5500"/>
              <a:buFont typeface="Calibri"/>
              <a:buNone/>
              <a:defRPr sz="5500">
                <a:latin typeface="Calibri"/>
                <a:ea typeface="Calibri"/>
                <a:cs typeface="Calibri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5500"/>
              <a:buFont typeface="Calibri"/>
              <a:buNone/>
              <a:defRPr sz="5500">
                <a:latin typeface="Calibri"/>
                <a:ea typeface="Calibri"/>
                <a:cs typeface="Calibri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5500"/>
              <a:buFont typeface="Calibri"/>
              <a:buNone/>
              <a:defRPr sz="5500">
                <a:latin typeface="Calibri"/>
                <a:ea typeface="Calibri"/>
                <a:cs typeface="Calibri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5500"/>
              <a:buFont typeface="Calibri"/>
              <a:buNone/>
              <a:defRPr sz="5500">
                <a:latin typeface="Calibri"/>
                <a:ea typeface="Calibri"/>
                <a:cs typeface="Calibri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5500"/>
              <a:buFont typeface="Calibri"/>
              <a:buNone/>
              <a:defRPr sz="5500">
                <a:latin typeface="Calibri"/>
                <a:ea typeface="Calibri"/>
                <a:cs typeface="Calibri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5500"/>
              <a:buFont typeface="Calibri"/>
              <a:buNone/>
              <a:defRPr sz="5500">
                <a:latin typeface="Calibri"/>
                <a:ea typeface="Calibri"/>
                <a:cs typeface="Calibri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5500"/>
              <a:buFont typeface="Calibri"/>
              <a:buNone/>
              <a:defRPr sz="5500">
                <a:latin typeface="Calibri"/>
                <a:ea typeface="Calibri"/>
                <a:cs typeface="Calibri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5500"/>
              <a:buFont typeface="Calibri"/>
              <a:buNone/>
              <a:defRPr sz="5500"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86" name="Google Shape;86;g2739bcec289_1_0">
            <a:extLst>
              <a:ext uri="{FF2B5EF4-FFF2-40B4-BE49-F238E27FC236}">
                <a16:creationId xmlns:a16="http://schemas.microsoft.com/office/drawing/2014/main" id="{3AA3AFBF-613B-458B-8880-0EAD77AB0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1050" y="1874605"/>
            <a:ext cx="4340100" cy="1407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 b="1"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1"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1"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94" name="Google Shape;88;g2739bcec289_1_0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49" r="49"/>
          <a:stretch/>
        </p:blipFill>
        <p:spPr>
          <a:xfrm>
            <a:off x="7241945" y="4661547"/>
            <a:ext cx="1625149" cy="275280"/>
          </a:xfrm>
          <a:prstGeom prst="rect">
            <a:avLst/>
          </a:prstGeom>
          <a:ln>
            <a:noFill/>
          </a:ln>
        </p:spPr>
      </p:pic>
      <p:pic>
        <p:nvPicPr>
          <p:cNvPr id="95" name="Google Shape;89;g2739bcec289_1_0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425" y="4635375"/>
            <a:ext cx="2391575" cy="135650"/>
          </a:xfrm>
          <a:prstGeom prst="rect">
            <a:avLst/>
          </a:prstGeom>
          <a:ln>
            <a:noFill/>
          </a:ln>
        </p:spPr>
      </p:pic>
      <p:pic>
        <p:nvPicPr>
          <p:cNvPr id="96" name="Google Shape;90;g2739bcec289_1_0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6900" y="4781840"/>
            <a:ext cx="1636749" cy="1870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圓弧曲線與標題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3853f358d_0_73">
            <a:extLst>
              <a:ext uri="{FF2B5EF4-FFF2-40B4-BE49-F238E27FC236}">
                <a16:creationId xmlns:a16="http://schemas.microsoft.com/office/drawing/2014/main" id="{A8F4C857-A3EC-4FA7-B188-8E04021B80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414500" cy="5143500"/>
          </a:xfrm>
          <a:prstGeom prst="rect">
            <a:avLst/>
          </a:prstGeom>
          <a:solidFill>
            <a:srgbClr val="04688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93;g273853f358d_0_73">
            <a:extLst>
              <a:ext uri="{FF2B5EF4-FFF2-40B4-BE49-F238E27FC236}">
                <a16:creationId xmlns:a16="http://schemas.microsoft.com/office/drawing/2014/main" id="{AD7D0E09-FEF8-4ADA-9D09-569DCB715154}"/>
              </a:ext>
            </a:extLst>
          </p:cNvPr>
          <p:cNvSpPr>
            <a:spLocks noGrp="1"/>
          </p:cNvSpPr>
          <p:nvPr/>
        </p:nvSpPr>
        <p:spPr>
          <a:xfrm rot="-5400000" flipH="1">
            <a:off x="2594525" y="-848275"/>
            <a:ext cx="6260700" cy="6846000"/>
          </a:xfrm>
          <a:prstGeom prst="round2SameRect">
            <a:avLst>
              <a:gd name="adj1" fmla="val 41046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oogle Shape;94;g273853f358d_0_73">
            <a:extLst>
              <a:ext uri="{FF2B5EF4-FFF2-40B4-BE49-F238E27FC236}">
                <a16:creationId xmlns:a16="http://schemas.microsoft.com/office/drawing/2014/main" id="{1A93CB4D-FAE5-4822-A90E-3BF2DC38D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5100" y="247325"/>
            <a:ext cx="496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273853f358d_0_73">
            <a:extLst>
              <a:ext uri="{FF2B5EF4-FFF2-40B4-BE49-F238E27FC236}">
                <a16:creationId xmlns:a16="http://schemas.microsoft.com/office/drawing/2014/main" id="{A56C52E7-602B-4D7B-840C-51D8E122509F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955650" y="1320150"/>
            <a:ext cx="2503200" cy="250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6" name="Google Shape;96;g273853f358d_0_73">
            <a:extLst>
              <a:ext uri="{FF2B5EF4-FFF2-40B4-BE49-F238E27FC236}">
                <a16:creationId xmlns:a16="http://schemas.microsoft.com/office/drawing/2014/main" id="{9AE1C055-372F-4220-AF1D-E851A87FF8C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05" name="Google Shape;98;g273853f358d_0_73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10"/>
          <a:stretch/>
        </p:blipFill>
        <p:spPr>
          <a:xfrm>
            <a:off x="7241945" y="4661700"/>
            <a:ext cx="1625149" cy="274975"/>
          </a:xfrm>
          <a:prstGeom prst="rect">
            <a:avLst/>
          </a:prstGeom>
          <a:ln>
            <a:noFill/>
          </a:ln>
        </p:spPr>
      </p:pic>
      <p:pic>
        <p:nvPicPr>
          <p:cNvPr id="106" name="Google Shape;99;g273853f358d_0_7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425" y="4635375"/>
            <a:ext cx="2391575" cy="135650"/>
          </a:xfrm>
          <a:prstGeom prst="rect">
            <a:avLst/>
          </a:prstGeom>
          <a:ln>
            <a:noFill/>
          </a:ln>
        </p:spPr>
      </p:pic>
      <p:pic>
        <p:nvPicPr>
          <p:cNvPr id="107" name="Google Shape;100;g273853f358d_0_73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00" y="4781840"/>
            <a:ext cx="1636749" cy="1870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蝴蝶頁02-用於有編碼大綱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02;g273853f358d_0_48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ln>
            <a:noFill/>
          </a:ln>
        </p:spPr>
      </p:pic>
      <p:sp>
        <p:nvSpPr>
          <p:cNvPr id="103" name="Google Shape;103;g273853f358d_0_48">
            <a:extLst>
              <a:ext uri="{FF2B5EF4-FFF2-40B4-BE49-F238E27FC236}">
                <a16:creationId xmlns:a16="http://schemas.microsoft.com/office/drawing/2014/main" id="{A357670B-6A2F-4B5F-91DB-531C81B4634D}"/>
              </a:ext>
            </a:extLst>
          </p:cNvPr>
          <p:cNvSpPr>
            <a:spLocks noGrp="1"/>
          </p:cNvSpPr>
          <p:nvPr/>
        </p:nvSpPr>
        <p:spPr>
          <a:xfrm rot="5400000">
            <a:off x="2855750" y="2441375"/>
            <a:ext cx="927900" cy="43200"/>
          </a:xfrm>
          <a:prstGeom prst="roundRect">
            <a:avLst>
              <a:gd name="adj" fmla="val 50000"/>
            </a:avLst>
          </a:prstGeom>
          <a:solidFill>
            <a:srgbClr val="83CCD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4" name="Google Shape;104;g273853f358d_0_48">
            <a:extLst>
              <a:ext uri="{FF2B5EF4-FFF2-40B4-BE49-F238E27FC236}">
                <a16:creationId xmlns:a16="http://schemas.microsoft.com/office/drawing/2014/main" id="{7CC6D0D3-5EC9-49A0-B86F-B688EF59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275" y="1786925"/>
            <a:ext cx="1376700" cy="1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None/>
              <a:defRPr sz="8200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>
                <a:latin typeface="Calibri"/>
                <a:ea typeface="Calibri"/>
                <a:cs typeface="Calibri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>
                <a:latin typeface="Calibri"/>
                <a:ea typeface="Calibri"/>
                <a:cs typeface="Calibri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>
                <a:latin typeface="Calibri"/>
                <a:ea typeface="Calibri"/>
                <a:cs typeface="Calibri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>
                <a:latin typeface="Calibri"/>
                <a:ea typeface="Calibri"/>
                <a:cs typeface="Calibri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>
                <a:latin typeface="Calibri"/>
                <a:ea typeface="Calibri"/>
                <a:cs typeface="Calibri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>
                <a:latin typeface="Calibri"/>
                <a:ea typeface="Calibri"/>
                <a:cs typeface="Calibri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>
                <a:latin typeface="Calibri"/>
                <a:ea typeface="Calibri"/>
                <a:cs typeface="Calibri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05" name="Google Shape;105;g273853f358d_0_48">
            <a:extLst>
              <a:ext uri="{FF2B5EF4-FFF2-40B4-BE49-F238E27FC236}">
                <a16:creationId xmlns:a16="http://schemas.microsoft.com/office/drawing/2014/main" id="{A1DACF8A-EF80-497C-A40E-2BD8E5536196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597450" y="1667400"/>
            <a:ext cx="3100800" cy="9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icrosoft JhengHei"/>
              <a:buNone/>
              <a:defRPr sz="3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icrosoft JhengHei"/>
              <a:buNone/>
              <a:defRPr sz="3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icrosoft JhengHei"/>
              <a:buNone/>
              <a:defRPr sz="3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icrosoft JhengHei"/>
              <a:buNone/>
              <a:defRPr sz="3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icrosoft JhengHei"/>
              <a:buNone/>
              <a:defRPr sz="3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icrosoft JhengHei"/>
              <a:buNone/>
              <a:defRPr sz="3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icrosoft JhengHei"/>
              <a:buNone/>
              <a:defRPr sz="3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icrosoft JhengHei"/>
              <a:buNone/>
              <a:defRPr sz="3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icrosoft JhengHei"/>
              <a:buNone/>
              <a:defRPr sz="3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endParaRPr/>
          </a:p>
        </p:txBody>
      </p:sp>
      <p:sp>
        <p:nvSpPr>
          <p:cNvPr id="106" name="Google Shape;106;g273853f358d_0_48">
            <a:extLst>
              <a:ext uri="{FF2B5EF4-FFF2-40B4-BE49-F238E27FC236}">
                <a16:creationId xmlns:a16="http://schemas.microsoft.com/office/drawing/2014/main" id="{55F2D7C6-EAAA-4CB0-86B2-C7F73F218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7450" y="2589850"/>
            <a:ext cx="3100800" cy="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 b="1">
                <a:solidFill>
                  <a:schemeClr val="accent4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6" name="Google Shape;108;g273853f358d_0_48"/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10"/>
          <a:stretch/>
        </p:blipFill>
        <p:spPr>
          <a:xfrm>
            <a:off x="7241945" y="4661700"/>
            <a:ext cx="1625149" cy="274975"/>
          </a:xfrm>
          <a:prstGeom prst="rect">
            <a:avLst/>
          </a:prstGeom>
          <a:ln>
            <a:noFill/>
          </a:ln>
        </p:spPr>
      </p:pic>
      <p:pic>
        <p:nvPicPr>
          <p:cNvPr id="117" name="Google Shape;109;g273853f358d_0_4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425" y="4635375"/>
            <a:ext cx="2391575" cy="135650"/>
          </a:xfrm>
          <a:prstGeom prst="rect">
            <a:avLst/>
          </a:prstGeom>
          <a:ln>
            <a:noFill/>
          </a:ln>
        </p:spPr>
      </p:pic>
      <p:pic>
        <p:nvPicPr>
          <p:cNvPr id="118" name="Google Shape;110;g273853f358d_0_48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6900" y="4781840"/>
            <a:ext cx="1636749" cy="1870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>
            <a:extLst>
              <a:ext uri="{FF2B5EF4-FFF2-40B4-BE49-F238E27FC236}">
                <a16:creationId xmlns:a16="http://schemas.microsoft.com/office/drawing/2014/main" id="{6B5659C5-A485-4834-A295-8E656D720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47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4275" rIns="36000" bIns="34275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2800" b="1" i="0" u="none" cap="non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46">
            <a:extLst>
              <a:ext uri="{FF2B5EF4-FFF2-40B4-BE49-F238E27FC236}">
                <a16:creationId xmlns:a16="http://schemas.microsoft.com/office/drawing/2014/main" id="{FBB97AB2-DEFE-47FA-AABE-B8BF9CC2A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200" y="788400"/>
            <a:ext cx="85212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marR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  <a:defRPr sz="1800" b="0" i="0" u="non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L="914400" marR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○"/>
              <a:defRPr sz="1400" b="0" i="0" u="non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2pPr>
            <a:lvl3pPr marL="1371600" marR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■"/>
              <a:defRPr sz="1400" b="0" i="0" u="non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3pPr>
            <a:lvl4pPr marL="1828800" marR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●"/>
              <a:defRPr sz="1400" b="0" i="0" u="non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4pPr>
            <a:lvl5pPr marL="2286000" marR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○"/>
              <a:defRPr sz="1400" b="0" i="0" u="non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5pPr>
            <a:lvl6pPr marL="2743200" marR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■"/>
              <a:defRPr sz="1400" b="0" i="0" u="non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6pPr>
            <a:lvl7pPr marL="3200400" marR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●"/>
              <a:defRPr sz="1400" b="0" i="0" u="non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7pPr>
            <a:lvl8pPr marL="3657600" marR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○"/>
              <a:defRPr sz="1400" b="0" i="0" u="non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8pPr>
            <a:lvl9pPr marL="4114800" marR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■"/>
              <a:defRPr sz="1400" b="0" i="0" u="non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endParaRPr/>
          </a:p>
        </p:txBody>
      </p:sp>
      <p:sp>
        <p:nvSpPr>
          <p:cNvPr id="8" name="Google Shape;8;p46">
            <a:extLst>
              <a:ext uri="{FF2B5EF4-FFF2-40B4-BE49-F238E27FC236}">
                <a16:creationId xmlns:a16="http://schemas.microsoft.com/office/drawing/2014/main" id="{DC0F99CF-CBB3-4DC3-89E4-57D5267BD7D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buNone/>
              <a:defRPr sz="9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9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9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9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9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9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9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9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9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5" name="Google Shape;10;p46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241945" y="4661700"/>
            <a:ext cx="1625149" cy="274975"/>
          </a:xfrm>
          <a:prstGeom prst="rect">
            <a:avLst/>
          </a:prstGeom>
          <a:ln>
            <a:noFill/>
          </a:ln>
        </p:spPr>
      </p:pic>
      <p:pic>
        <p:nvPicPr>
          <p:cNvPr id="16" name="Google Shape;11;p46"/>
          <p:cNvPicPr>
            <a:picLocks noChangeAspect="1"/>
          </p:cNvPicPr>
          <p:nvPr/>
        </p:nvPicPr>
        <p:blipFill>
          <a:blip r:embed="rId17">
            <a:alphaModFix amt="70000"/>
          </a:blip>
          <a:stretch>
            <a:fillRect/>
          </a:stretch>
        </p:blipFill>
        <p:spPr>
          <a:xfrm>
            <a:off x="275425" y="4635375"/>
            <a:ext cx="2391575" cy="135650"/>
          </a:xfrm>
          <a:prstGeom prst="rect">
            <a:avLst/>
          </a:prstGeom>
          <a:ln>
            <a:noFill/>
          </a:ln>
        </p:spPr>
      </p:pic>
      <p:pic>
        <p:nvPicPr>
          <p:cNvPr id="17" name="Google Shape;12;p46"/>
          <p:cNvPicPr>
            <a:picLocks noChangeAspect="1"/>
          </p:cNvPicPr>
          <p:nvPr/>
        </p:nvPicPr>
        <p:blipFill>
          <a:blip r:embed="rId18">
            <a:alphaModFix amt="70000"/>
          </a:blip>
          <a:stretch>
            <a:fillRect/>
          </a:stretch>
        </p:blipFill>
        <p:spPr>
          <a:xfrm>
            <a:off x="276900" y="4781840"/>
            <a:ext cx="1636749" cy="187050"/>
          </a:xfrm>
          <a:prstGeom prst="rect">
            <a:avLst/>
          </a:prstGeom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39bcec289_0_0">
            <a:extLst>
              <a:ext uri="{FF2B5EF4-FFF2-40B4-BE49-F238E27FC236}">
                <a16:creationId xmlns:a16="http://schemas.microsoft.com/office/drawing/2014/main" id="{868CD586-3179-4FC1-A7F2-D2AB0C6DA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575" y="1766225"/>
            <a:ext cx="4587300" cy="1193700"/>
          </a:xfrm>
          <a:prstGeom prst="rect">
            <a:avLst/>
          </a:prstGeom>
        </p:spPr>
        <p:txBody>
          <a:bodyPr spcFirstLastPara="1" wrap="square" lIns="68575" tIns="34275" rIns="68575" bIns="34275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elk-diagnostics</a:t>
            </a:r>
            <a:endParaRPr/>
          </a:p>
        </p:txBody>
      </p:sp>
      <p:sp>
        <p:nvSpPr>
          <p:cNvPr id="116" name="Google Shape;116;g2739bcec289_0_0">
            <a:extLst>
              <a:ext uri="{FF2B5EF4-FFF2-40B4-BE49-F238E27FC236}">
                <a16:creationId xmlns:a16="http://schemas.microsoft.com/office/drawing/2014/main" id="{FECC7B90-0E75-4C97-9B25-0BC392D2B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475" y="1353975"/>
            <a:ext cx="4587300" cy="412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 fontScale="95551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Elasticsearch 叢集健康診斷</a:t>
            </a:r>
            <a:endParaRPr/>
          </a:p>
        </p:txBody>
      </p:sp>
      <p:sp>
        <p:nvSpPr>
          <p:cNvPr id="117" name="Google Shape;117;g2739bcec289_0_0">
            <a:extLst>
              <a:ext uri="{FF2B5EF4-FFF2-40B4-BE49-F238E27FC236}">
                <a16:creationId xmlns:a16="http://schemas.microsoft.com/office/drawing/2014/main" id="{62F68FAF-3F3B-4596-BC65-21EE85A819B4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08475" y="3060550"/>
            <a:ext cx="4587300" cy="3849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 fontScale="93038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5C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5C6670"/>
                </a:solidFill>
                <a:latin typeface="Microsoft JhengHei"/>
                <a:ea typeface="Microsoft JhengHei"/>
                <a:cs typeface="Microsoft JhengHei"/>
              </a:rPr>
              <a:t>低依賴・可稽核・可離線分析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1937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39bcec289_0_56">
            <a:extLst>
              <a:ext uri="{FF2B5EF4-FFF2-40B4-BE49-F238E27FC236}">
                <a16:creationId xmlns:a16="http://schemas.microsoft.com/office/drawing/2014/main" id="{466978D6-2412-4102-B217-365C9C482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550" y="1172925"/>
            <a:ext cx="5652000" cy="1282500"/>
          </a:xfrm>
          <a:prstGeom prst="rect">
            <a:avLst/>
          </a:prstGeom>
        </p:spPr>
        <p:txBody>
          <a:bodyPr spcFirstLastPara="1" wrap="square" lIns="68575" tIns="34275" rIns="68575" bIns="34275" anchor="ctr"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把 API 快照，轉成可行動的診斷</a:t>
            </a:r>
            <a:endParaRPr/>
          </a:p>
        </p:txBody>
      </p:sp>
      <p:sp>
        <p:nvSpPr>
          <p:cNvPr id="130" name="Google Shape;130;g2739bcec289_0_56">
            <a:extLst>
              <a:ext uri="{FF2B5EF4-FFF2-40B4-BE49-F238E27FC236}">
                <a16:creationId xmlns:a16="http://schemas.microsoft.com/office/drawing/2014/main" id="{C0F6C418-58ED-4909-8D0B-C2420EDE2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5425" y="2904725"/>
            <a:ext cx="5652000" cy="9054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1875">
                <a:solidFill>
                  <a:srgbClr val="5C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5C6670"/>
                </a:solidFill>
                <a:latin typeface="Microsoft JhengHei"/>
                <a:ea typeface="Microsoft JhengHei"/>
                <a:cs typeface="Microsoft JhengHei"/>
              </a:rPr>
              <a:t>固定採集合約・保守判讀・中文報告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840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39bcec289_0_69">
            <a:extLst>
              <a:ext uri="{FF2B5EF4-FFF2-40B4-BE49-F238E27FC236}">
                <a16:creationId xmlns:a16="http://schemas.microsoft.com/office/drawing/2014/main" id="{038DB114-C1E5-45F5-A8F0-DA0C204C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9827"/>
            <a:ext cx="8520600" cy="572700"/>
          </a:xfrm>
          <a:prstGeom prst="rect">
            <a:avLst/>
          </a:prstGeom>
        </p:spPr>
        <p:txBody>
          <a:bodyPr spcFirstLastPara="1" wrap="square" lIns="36000" tIns="36000" rIns="36000" bIns="3600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dirty="0" err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真正缺的，不是更多原始資料</a:t>
            </a:r>
            <a:endParaRPr dirty="0"/>
          </a:p>
        </p:txBody>
      </p:sp>
      <p:sp>
        <p:nvSpPr>
          <p:cNvPr id="142" name="Google Shape;142;g2739bcec289_0_69">
            <a:extLst>
              <a:ext uri="{FF2B5EF4-FFF2-40B4-BE49-F238E27FC236}">
                <a16:creationId xmlns:a16="http://schemas.microsoft.com/office/drawing/2014/main" id="{23173AA6-D030-4F1C-A2EA-3A4BD3A7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200" y="788400"/>
            <a:ext cx="8521200" cy="3729600"/>
          </a:xfrm>
          <a:prstGeom prst="rect">
            <a:avLst/>
          </a:prstGeom>
        </p:spPr>
        <p:txBody>
          <a:bodyPr spcFirstLastPara="1" wrap="square" lIns="171450" tIns="171450" rIns="171450" bIns="9525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8"/>
              </a:spcAft>
              <a:buNone/>
              <a:defRPr sz="18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8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判讀成本：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Monitoring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API 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回應很多，但事件當下仍難快速回答『哪裡異常、影響什麼、下一步查什麼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』。</a:t>
            </a:r>
            <a:endParaRPr lang="en-US" sz="1800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12000"/>
              </a:lnSpc>
              <a:spcAft>
                <a:spcPts val="8"/>
              </a:spcAft>
              <a:buNone/>
              <a:defRPr sz="18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800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12000"/>
              </a:lnSpc>
              <a:spcAft>
                <a:spcPts val="8"/>
              </a:spcAft>
              <a:buNone/>
              <a:defRPr sz="18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8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交付限制：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金融、政府等環境常限制安裝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JDK、代理程式、SSH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或未知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binary；採集流程必須可審查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800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12000"/>
              </a:lnSpc>
              <a:spcAft>
                <a:spcPts val="8"/>
              </a:spcAft>
              <a:buNone/>
              <a:defRPr sz="18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800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12000"/>
              </a:lnSpc>
              <a:spcAft>
                <a:spcPts val="8"/>
              </a:spcAft>
              <a:buNone/>
              <a:defRPr sz="18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8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可信度：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權限不足、API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不可用或回應不完整時，工具必須說明『無法判定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』，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不能把缺資料當正常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800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12000"/>
              </a:lnSpc>
              <a:spcAft>
                <a:spcPts val="8"/>
              </a:spcAft>
              <a:buNone/>
              <a:defRPr sz="18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800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12000"/>
              </a:lnSpc>
              <a:spcAft>
                <a:spcPts val="8"/>
              </a:spcAft>
              <a:buNone/>
              <a:defRPr sz="18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8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產品定位：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elk-diagnostics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聚焦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Elasticsearch API </a:t>
            </a:r>
            <a:r>
              <a:rPr sz="1800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可見狀態，提供一致的診斷規則、結果分級與報告</a:t>
            </a:r>
            <a:r>
              <a:rPr sz="1800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24265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39bcec289_0_44">
            <a:extLst>
              <a:ext uri="{FF2B5EF4-FFF2-40B4-BE49-F238E27FC236}">
                <a16:creationId xmlns:a16="http://schemas.microsoft.com/office/drawing/2014/main" id="{568880A8-C9E6-49C9-937B-0DD2F9894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4" y="247325"/>
            <a:ext cx="2754900" cy="1161900"/>
          </a:xfrm>
          <a:prstGeom prst="rect">
            <a:avLst/>
          </a:prstGeom>
        </p:spPr>
        <p:txBody>
          <a:bodyPr spcFirstLastPara="1" wrap="square" lIns="68575" tIns="34275" rIns="68575" bIns="34275" anchor="ctr">
            <a:normAutofit/>
          </a:bodyPr>
          <a:lstStyle/>
          <a:p>
            <a:pPr marL="0" lv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兩條路線</a:t>
            </a:r>
            <a:endParaRPr/>
          </a:p>
          <a:p>
            <a:pPr marL="0" lv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同一套診斷邏輯</a:t>
            </a:r>
            <a:endParaRPr/>
          </a:p>
        </p:txBody>
      </p:sp>
      <p:sp>
        <p:nvSpPr>
          <p:cNvPr id="155" name="Google Shape;155;g2739bcec289_0_44">
            <a:extLst>
              <a:ext uri="{FF2B5EF4-FFF2-40B4-BE49-F238E27FC236}">
                <a16:creationId xmlns:a16="http://schemas.microsoft.com/office/drawing/2014/main" id="{D9F44F3D-D41F-4FF8-8181-D58FABB43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9300" y="480175"/>
            <a:ext cx="3873000" cy="4022400"/>
          </a:xfrm>
          <a:prstGeom prst="rect">
            <a:avLst/>
          </a:prstGeom>
        </p:spPr>
        <p:txBody>
          <a:bodyPr spcFirstLastPara="1" wrap="square" lIns="114300" tIns="76200" rIns="114300" bIns="76200" anchor="t">
            <a:normAutofit/>
          </a:bodyPr>
          <a:lstStyle/>
          <a:p>
            <a:pPr>
              <a:lnSpc>
                <a:spcPct val="103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lang="en-US" sz="1575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lang="en-US" sz="1575" b="1" dirty="0">
              <a:solidFill>
                <a:srgbClr val="222222"/>
              </a:solidFill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Route </a:t>
            </a:r>
            <a:r>
              <a:rPr sz="1575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A｜Live</a:t>
            </a:r>
            <a:endParaRPr sz="1575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Go binary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直接以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HTTPS／Basic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Auth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讀取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ES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API，即時輸出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text、JSON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或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HTML。</a:t>
            </a:r>
            <a:endParaRPr lang="en-US" sz="1575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575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Route </a:t>
            </a:r>
            <a:r>
              <a:rPr sz="1575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B｜Bundle</a:t>
            </a:r>
            <a:endParaRPr sz="1575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客戶端只執行可審閱的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collect.sh；Bundle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可帶離環境，交由另一台機器離線分析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575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575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兩條路線共用相同診斷規則</a:t>
            </a: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58" name="workflow-Route A｜Live">
            <a:extLst>
              <a:ext uri="{FF2B5EF4-FFF2-40B4-BE49-F238E27FC236}">
                <a16:creationId xmlns:a16="http://schemas.microsoft.com/office/drawing/2014/main" id="{3B26F6F0-7C52-42C1-92B4-D00381F70ADF}"/>
              </a:ext>
            </a:extLst>
          </p:cNvPr>
          <p:cNvSpPr>
            <a:spLocks noGrp="1"/>
          </p:cNvSpPr>
          <p:nvPr/>
        </p:nvSpPr>
        <p:spPr>
          <a:xfrm>
            <a:off x="1215500" y="1528975"/>
            <a:ext cx="35367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03374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76200" tIns="95250" rIns="7620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Route A｜Live</a:t>
            </a:r>
          </a:p>
          <a:p>
            <a:pPr algn="ctr">
              <a:lnSpc>
                <a:spcPct val="105000"/>
              </a:lnSpc>
              <a:buNone/>
              <a:defRPr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Binary  →  ES API  →  診斷報告</a:t>
            </a:r>
          </a:p>
        </p:txBody>
      </p:sp>
      <p:sp>
        <p:nvSpPr>
          <p:cNvPr id="159" name="workflow-Route B｜Bundle">
            <a:extLst>
              <a:ext uri="{FF2B5EF4-FFF2-40B4-BE49-F238E27FC236}">
                <a16:creationId xmlns:a16="http://schemas.microsoft.com/office/drawing/2014/main" id="{1D0714C8-973C-44DB-BC5D-A1A8C0C71AAE}"/>
              </a:ext>
            </a:extLst>
          </p:cNvPr>
          <p:cNvSpPr>
            <a:spLocks noGrp="1"/>
          </p:cNvSpPr>
          <p:nvPr/>
        </p:nvSpPr>
        <p:spPr>
          <a:xfrm>
            <a:off x="1215500" y="2786275"/>
            <a:ext cx="35367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9050">
            <a:solidFill>
              <a:srgbClr val="2C96B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76200" tIns="95250" rIns="7620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Route B｜Bundle</a:t>
            </a:r>
          </a:p>
          <a:p>
            <a:pPr algn="ctr">
              <a:lnSpc>
                <a:spcPct val="105000"/>
              </a:lnSpc>
              <a:buNone/>
              <a:defRPr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collect.sh  →  Bundle
→  離線診斷報告</a:t>
            </a:r>
          </a:p>
        </p:txBody>
      </p:sp>
    </p:spTree>
    <p:extLst>
      <p:ext uri="{BB962C8B-B14F-4D97-AF65-F5344CB8AC3E}">
        <p14:creationId xmlns:p14="http://schemas.microsoft.com/office/powerpoint/2010/main" val="121835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39bcec289_0_44">
            <a:extLst>
              <a:ext uri="{FF2B5EF4-FFF2-40B4-BE49-F238E27FC236}">
                <a16:creationId xmlns:a16="http://schemas.microsoft.com/office/drawing/2014/main" id="{568880A8-C9E6-49C9-937B-0DD2F9894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4" y="247325"/>
            <a:ext cx="2754900" cy="1161900"/>
          </a:xfrm>
          <a:prstGeom prst="rect">
            <a:avLst/>
          </a:prstGeom>
        </p:spPr>
        <p:txBody>
          <a:bodyPr spcFirstLastPara="1" wrap="square" lIns="68575" tIns="34275" rIns="68575" bIns="34275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一份可直接審閱的診斷報告</a:t>
            </a:r>
            <a:endParaRPr/>
          </a:p>
        </p:txBody>
      </p:sp>
      <p:sp>
        <p:nvSpPr>
          <p:cNvPr id="155" name="Google Shape;155;g2739bcec289_0_44">
            <a:extLst>
              <a:ext uri="{FF2B5EF4-FFF2-40B4-BE49-F238E27FC236}">
                <a16:creationId xmlns:a16="http://schemas.microsoft.com/office/drawing/2014/main" id="{D9F44F3D-D41F-4FF8-8181-D58FABB43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9300" y="480175"/>
            <a:ext cx="3873000" cy="4022400"/>
          </a:xfrm>
          <a:prstGeom prst="rect">
            <a:avLst/>
          </a:prstGeom>
        </p:spPr>
        <p:txBody>
          <a:bodyPr spcFirstLastPara="1" wrap="square" lIns="114300" tIns="190500" rIns="76200" bIns="76200" anchor="t">
            <a:normAutofit/>
          </a:bodyPr>
          <a:lstStyle/>
          <a:p>
            <a:pPr>
              <a:lnSpc>
                <a:spcPct val="100000"/>
              </a:lnSpc>
              <a:spcAft>
                <a:spcPts val="8"/>
              </a:spcAft>
              <a:buNone/>
              <a:defRPr sz="1463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摘要</a:t>
            </a:r>
            <a:endParaRPr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0000"/>
              </a:lnSpc>
              <a:spcAft>
                <a:spcPts val="8"/>
              </a:spcAft>
              <a:buNone/>
              <a:defRPr sz="1463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463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整體狀態與五種結果統計</a:t>
            </a:r>
            <a:endParaRPr lang="en-US" sz="1463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0000"/>
              </a:lnSpc>
              <a:spcAft>
                <a:spcPts val="8"/>
              </a:spcAft>
              <a:buNone/>
              <a:defRPr sz="1463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463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Aft>
                <a:spcPts val="8"/>
              </a:spcAft>
              <a:buNone/>
              <a:defRPr sz="1463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節點概況</a:t>
            </a:r>
            <a:endParaRPr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0000"/>
              </a:lnSpc>
              <a:spcAft>
                <a:spcPts val="8"/>
              </a:spcAft>
              <a:buNone/>
              <a:defRPr sz="1463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463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角色、CPU、OS</a:t>
            </a:r>
            <a:r>
              <a:rPr sz="1463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RAM、JVM </a:t>
            </a:r>
            <a:r>
              <a:rPr sz="1463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Heap、Swap、FD</a:t>
            </a:r>
            <a:endParaRPr lang="en-US" sz="1463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0000"/>
              </a:lnSpc>
              <a:spcAft>
                <a:spcPts val="8"/>
              </a:spcAft>
              <a:buNone/>
              <a:defRPr sz="1463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463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Aft>
                <a:spcPts val="8"/>
              </a:spcAft>
              <a:buNone/>
              <a:defRPr sz="1463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診斷卡與追溯</a:t>
            </a:r>
            <a:endParaRPr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0000"/>
              </a:lnSpc>
              <a:spcAft>
                <a:spcPts val="8"/>
              </a:spcAft>
              <a:buNone/>
              <a:defRPr sz="1463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463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發現、建議、額外條件、官方文件與</a:t>
            </a:r>
            <a:r>
              <a:rPr sz="1463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API </a:t>
            </a:r>
            <a:r>
              <a:rPr sz="1463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來源</a:t>
            </a:r>
            <a:endParaRPr sz="1463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161" name="圖片 160"/>
          <p:cNvPicPr>
            <a:picLocks noChangeAspect="1"/>
          </p:cNvPicPr>
          <p:nvPr/>
        </p:nvPicPr>
        <p:blipFill>
          <a:blip r:embed="rId3"/>
          <a:srcRect l="5399" r="5399"/>
          <a:stretch>
            <a:fillRect/>
          </a:stretch>
        </p:blipFill>
        <p:spPr>
          <a:xfrm>
            <a:off x="1215500" y="1528975"/>
            <a:ext cx="3536700" cy="2973600"/>
          </a:xfrm>
          <a:prstGeom prst="roundRect">
            <a:avLst>
              <a:gd name="adj" fmla="val 3203"/>
            </a:avLst>
          </a:prstGeom>
        </p:spPr>
      </p:pic>
    </p:spTree>
    <p:extLst>
      <p:ext uri="{BB962C8B-B14F-4D97-AF65-F5344CB8AC3E}">
        <p14:creationId xmlns:p14="http://schemas.microsoft.com/office/powerpoint/2010/main" val="1218354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39bcec289_0_69">
            <a:extLst>
              <a:ext uri="{FF2B5EF4-FFF2-40B4-BE49-F238E27FC236}">
                <a16:creationId xmlns:a16="http://schemas.microsoft.com/office/drawing/2014/main" id="{038DB114-C1E5-45F5-A8F0-DA0C204C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9827"/>
            <a:ext cx="8520600" cy="572700"/>
          </a:xfrm>
          <a:prstGeom prst="rect">
            <a:avLst/>
          </a:prstGeom>
        </p:spPr>
        <p:txBody>
          <a:bodyPr spcFirstLastPara="1" wrap="square" lIns="36000" tIns="36000" rIns="36000" bIns="3600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 dirty="0" err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檢查範圍</a:t>
            </a:r>
            <a:r>
              <a:rPr sz="2625" b="1" dirty="0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 ①｜</a:t>
            </a:r>
            <a:r>
              <a:rPr sz="2625" b="1" dirty="0" err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叢集、Shard</a:t>
            </a:r>
            <a:r>
              <a:rPr sz="2625" b="1" dirty="0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625" b="1" dirty="0" err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與容量</a:t>
            </a:r>
            <a:endParaRPr dirty="0"/>
          </a:p>
        </p:txBody>
      </p:sp>
      <p:sp>
        <p:nvSpPr>
          <p:cNvPr id="142" name="Google Shape;142;g2739bcec289_0_69">
            <a:extLst>
              <a:ext uri="{FF2B5EF4-FFF2-40B4-BE49-F238E27FC236}">
                <a16:creationId xmlns:a16="http://schemas.microsoft.com/office/drawing/2014/main" id="{23173AA6-D030-4F1C-A2EA-3A4BD3A7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3857625" cy="3371850"/>
          </a:xfrm>
          <a:prstGeom prst="rect">
            <a:avLst/>
          </a:prstGeom>
        </p:spPr>
        <p:txBody>
          <a:bodyPr spcFirstLastPara="1" wrap="square" lIns="95250" tIns="76200" rIns="114300" bIns="57150" anchor="t">
            <a:normAutofit/>
          </a:bodyPr>
          <a:lstStyle/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叢集與</a:t>
            </a:r>
            <a:r>
              <a:rPr sz="1600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Master</a:t>
            </a:r>
            <a:endParaRPr lang="en-US"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叢集健康／未分配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shard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Master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穩定性與結構風險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叢集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shard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分布不均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Cluster pending tasks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Planned shutdown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登記狀態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Voting configuration exclusions</a:t>
            </a:r>
          </a:p>
        </p:txBody>
      </p:sp>
      <p:sp>
        <p:nvSpPr>
          <p:cNvPr id="144" name="right-column-6">
            <a:extLst>
              <a:ext uri="{FF2B5EF4-FFF2-40B4-BE49-F238E27FC236}">
                <a16:creationId xmlns:a16="http://schemas.microsoft.com/office/drawing/2014/main" id="{953E89D7-11FC-41ED-A404-A332F10E8EB8}"/>
              </a:ext>
            </a:extLst>
          </p:cNvPr>
          <p:cNvSpPr>
            <a:spLocks noGrp="1"/>
          </p:cNvSpPr>
          <p:nvPr/>
        </p:nvSpPr>
        <p:spPr>
          <a:xfrm>
            <a:off x="4791075" y="990600"/>
            <a:ext cx="3857625" cy="337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114300" bIns="57150">
            <a:normAutofit/>
          </a:bodyPr>
          <a:lstStyle/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分配與容量</a:t>
            </a:r>
            <a:endParaRPr lang="en-US"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叢集層級／Index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層級分配封鎖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Allocation decider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根因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Replica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容錯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Allocation awareness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磁碟容量／watermark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Shard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容量上限與大小規劃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824265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39bcec289_0_69">
            <a:extLst>
              <a:ext uri="{FF2B5EF4-FFF2-40B4-BE49-F238E27FC236}">
                <a16:creationId xmlns:a16="http://schemas.microsoft.com/office/drawing/2014/main" id="{038DB114-C1E5-45F5-A8F0-DA0C204C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9827"/>
            <a:ext cx="8520600" cy="572700"/>
          </a:xfrm>
          <a:prstGeom prst="rect">
            <a:avLst/>
          </a:prstGeom>
        </p:spPr>
        <p:txBody>
          <a:bodyPr spcFirstLastPara="1" wrap="square" lIns="36000" tIns="36000" rIns="36000" bIns="3600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檢查範圍 ②｜節點與效能壓力</a:t>
            </a:r>
            <a:endParaRPr/>
          </a:p>
        </p:txBody>
      </p:sp>
      <p:sp>
        <p:nvSpPr>
          <p:cNvPr id="142" name="Google Shape;142;g2739bcec289_0_69">
            <a:extLst>
              <a:ext uri="{FF2B5EF4-FFF2-40B4-BE49-F238E27FC236}">
                <a16:creationId xmlns:a16="http://schemas.microsoft.com/office/drawing/2014/main" id="{23173AA6-D030-4F1C-A2EA-3A4BD3A7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3857625" cy="3371850"/>
          </a:xfrm>
          <a:prstGeom prst="rect">
            <a:avLst/>
          </a:prstGeom>
        </p:spPr>
        <p:txBody>
          <a:bodyPr spcFirstLastPara="1" wrap="square" lIns="95250" tIns="76200" rIns="114300" bIns="57150" anchor="t">
            <a:normAutofit/>
          </a:bodyPr>
          <a:lstStyle/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節點完整性與執行環境</a:t>
            </a:r>
            <a:endParaRPr lang="en-US"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Nodes API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回應完整性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Swap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使用與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memory lock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File descriptor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使用率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Cgroup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memory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餘裕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節點近期重啟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Node runtime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一致性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4" name="right-column-7">
            <a:extLst>
              <a:ext uri="{FF2B5EF4-FFF2-40B4-BE49-F238E27FC236}">
                <a16:creationId xmlns:a16="http://schemas.microsoft.com/office/drawing/2014/main" id="{7D84AA5C-AF4E-4C6D-B2BA-8F811C6F295C}"/>
              </a:ext>
            </a:extLst>
          </p:cNvPr>
          <p:cNvSpPr>
            <a:spLocks noGrp="1"/>
          </p:cNvSpPr>
          <p:nvPr/>
        </p:nvSpPr>
        <p:spPr>
          <a:xfrm>
            <a:off x="4791075" y="990600"/>
            <a:ext cx="3857625" cy="337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114300" bIns="57150">
            <a:normAutofit/>
          </a:bodyPr>
          <a:lstStyle/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效能壓力快照</a:t>
            </a:r>
            <a:endParaRPr lang="en-US"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Thread pool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拒絕與佇列積壓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JVM Heap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circuit breaker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CPU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hot spotting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Search slow log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長時間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task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Indexing pressure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當下使用量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824265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39bcec289_0_69">
            <a:extLst>
              <a:ext uri="{FF2B5EF4-FFF2-40B4-BE49-F238E27FC236}">
                <a16:creationId xmlns:a16="http://schemas.microsoft.com/office/drawing/2014/main" id="{038DB114-C1E5-45F5-A8F0-DA0C204C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9827"/>
            <a:ext cx="8520600" cy="572700"/>
          </a:xfrm>
          <a:prstGeom prst="rect">
            <a:avLst/>
          </a:prstGeom>
        </p:spPr>
        <p:txBody>
          <a:bodyPr spcFirstLastPara="1" wrap="square" lIns="36000" tIns="36000" rIns="36000" bIns="3600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檢查範圍 ③｜資料、生命週期與管理功能</a:t>
            </a:r>
            <a:endParaRPr/>
          </a:p>
        </p:txBody>
      </p:sp>
      <p:sp>
        <p:nvSpPr>
          <p:cNvPr id="142" name="Google Shape;142;g2739bcec289_0_69">
            <a:extLst>
              <a:ext uri="{FF2B5EF4-FFF2-40B4-BE49-F238E27FC236}">
                <a16:creationId xmlns:a16="http://schemas.microsoft.com/office/drawing/2014/main" id="{23173AA6-D030-4F1C-A2EA-3A4BD3A7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3857625" cy="3371850"/>
          </a:xfrm>
          <a:prstGeom prst="rect">
            <a:avLst/>
          </a:prstGeom>
        </p:spPr>
        <p:txBody>
          <a:bodyPr spcFirstLastPara="1" wrap="square" lIns="95250" tIns="76200" rIns="114300" bIns="57150" anchor="t">
            <a:normAutofit/>
          </a:bodyPr>
          <a:lstStyle/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資料與</a:t>
            </a:r>
            <a:r>
              <a:rPr sz="1600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Index</a:t>
            </a:r>
            <a:endParaRPr lang="en-US"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Data stream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生命週期／tier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Mapping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欄位膨脹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Ingest pipeline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失敗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資料毀損徵兆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Data tier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節點分布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Index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read／write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blocks</a:t>
            </a:r>
          </a:p>
        </p:txBody>
      </p:sp>
      <p:sp>
        <p:nvSpPr>
          <p:cNvPr id="144" name="right-column-8">
            <a:extLst>
              <a:ext uri="{FF2B5EF4-FFF2-40B4-BE49-F238E27FC236}">
                <a16:creationId xmlns:a16="http://schemas.microsoft.com/office/drawing/2014/main" id="{00B17392-26BA-46D5-A1A6-75078C0FE58B}"/>
              </a:ext>
            </a:extLst>
          </p:cNvPr>
          <p:cNvSpPr>
            <a:spLocks noGrp="1"/>
          </p:cNvSpPr>
          <p:nvPr/>
        </p:nvSpPr>
        <p:spPr>
          <a:xfrm>
            <a:off x="4791075" y="990600"/>
            <a:ext cx="3857625" cy="337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114300" bIns="57150">
            <a:normAutofit/>
          </a:bodyPr>
          <a:lstStyle/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生命週期與管理</a:t>
            </a:r>
            <a:endParaRPr lang="en-US"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ILM／SLM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狀態與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ILM tier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遷移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Watcher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Transforms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Remote clusters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升版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deprecation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Stack Monitoring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收集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License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狀態與到期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824265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39bcec289_0_69">
            <a:extLst>
              <a:ext uri="{FF2B5EF4-FFF2-40B4-BE49-F238E27FC236}">
                <a16:creationId xmlns:a16="http://schemas.microsoft.com/office/drawing/2014/main" id="{038DB114-C1E5-45F5-A8F0-DA0C204C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9827"/>
            <a:ext cx="8520600" cy="572700"/>
          </a:xfrm>
          <a:prstGeom prst="rect">
            <a:avLst/>
          </a:prstGeom>
        </p:spPr>
        <p:txBody>
          <a:bodyPr spcFirstLastPara="1" wrap="square" lIns="36000" tIns="36000" rIns="36000" bIns="3600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檢查範圍 ④｜備份、複寫、ML 與 TLS</a:t>
            </a:r>
            <a:endParaRPr/>
          </a:p>
        </p:txBody>
      </p:sp>
      <p:sp>
        <p:nvSpPr>
          <p:cNvPr id="142" name="Google Shape;142;g2739bcec289_0_69">
            <a:extLst>
              <a:ext uri="{FF2B5EF4-FFF2-40B4-BE49-F238E27FC236}">
                <a16:creationId xmlns:a16="http://schemas.microsoft.com/office/drawing/2014/main" id="{23173AA6-D030-4F1C-A2EA-3A4BD3A7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3857625" cy="3371850"/>
          </a:xfrm>
          <a:prstGeom prst="rect">
            <a:avLst/>
          </a:prstGeom>
        </p:spPr>
        <p:txBody>
          <a:bodyPr spcFirstLastPara="1" wrap="square" lIns="95250" tIns="76200" rIns="114300" bIns="57150" anchor="t">
            <a:normAutofit/>
          </a:bodyPr>
          <a:lstStyle/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600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備份與進階能力</a:t>
            </a:r>
            <a:endParaRPr lang="en-US" altLang="zh-TW"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 altLang="en-US"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Snapshot repository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完整性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SLM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快照政策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Snapshot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還原狀態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Snapshot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新鮮度／RPO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CCR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follower／auto-follow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健康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ML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jobs／datafeeds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狀態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本次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API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回傳的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TLS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憑證到期日</a:t>
            </a: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4" name="right-column-9">
            <a:extLst>
              <a:ext uri="{FF2B5EF4-FFF2-40B4-BE49-F238E27FC236}">
                <a16:creationId xmlns:a16="http://schemas.microsoft.com/office/drawing/2014/main" id="{5A8658CA-9DF5-429B-93BB-89429387B93C}"/>
              </a:ext>
            </a:extLst>
          </p:cNvPr>
          <p:cNvSpPr>
            <a:spLocks noGrp="1"/>
          </p:cNvSpPr>
          <p:nvPr/>
        </p:nvSpPr>
        <p:spPr>
          <a:xfrm>
            <a:off x="4791075" y="990600"/>
            <a:ext cx="3857625" cy="337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114300" bIns="57150">
            <a:normAutofit/>
          </a:bodyPr>
          <a:lstStyle/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判讀邊界</a:t>
            </a:r>
            <a:endParaRPr lang="en-US"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600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只判讀執行帳號可見的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API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回應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License／權限／版本不支援時，回報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skipped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或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unknown。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TLS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檢查不宣稱涵蓋叢集所有有效憑證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單次快照不取代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Monitoring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時間序列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>
              <a:lnSpc>
                <a:spcPct val="103000"/>
              </a:lnSpc>
              <a:spcBef>
                <a:spcPts val="10"/>
              </a:spcBef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合計：39 </a:t>
            </a:r>
            <a:r>
              <a:rPr sz="1388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個固定</a:t>
            </a: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GET endpoint，52 </a:t>
            </a:r>
            <a:r>
              <a:rPr sz="1388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項診斷規則</a:t>
            </a: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24265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39bcec289_0_69">
            <a:extLst>
              <a:ext uri="{FF2B5EF4-FFF2-40B4-BE49-F238E27FC236}">
                <a16:creationId xmlns:a16="http://schemas.microsoft.com/office/drawing/2014/main" id="{038DB114-C1E5-45F5-A8F0-DA0C204C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9827"/>
            <a:ext cx="8520600" cy="572700"/>
          </a:xfrm>
          <a:prstGeom prst="rect">
            <a:avLst/>
          </a:prstGeom>
        </p:spPr>
        <p:txBody>
          <a:bodyPr spcFirstLastPara="1" wrap="square" lIns="36000" tIns="36000" rIns="36000" bIns="3600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缺資料時，不把『不知道』寫成正常</a:t>
            </a:r>
            <a:endParaRPr/>
          </a:p>
        </p:txBody>
      </p:sp>
      <p:sp>
        <p:nvSpPr>
          <p:cNvPr id="142" name="Google Shape;142;g2739bcec289_0_69">
            <a:extLst>
              <a:ext uri="{FF2B5EF4-FFF2-40B4-BE49-F238E27FC236}">
                <a16:creationId xmlns:a16="http://schemas.microsoft.com/office/drawing/2014/main" id="{23173AA6-D030-4F1C-A2EA-3A4BD3A7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462" y="2914651"/>
            <a:ext cx="8477250" cy="1381125"/>
          </a:xfrm>
          <a:prstGeom prst="rect">
            <a:avLst/>
          </a:prstGeom>
        </p:spPr>
        <p:txBody>
          <a:bodyPr spcFirstLastPara="1" wrap="square" lIns="57150" tIns="38100" rIns="57150" bIns="38100" anchor="t">
            <a:normAutofit/>
          </a:bodyPr>
          <a:lstStyle/>
          <a:p>
            <a:pPr marL="0" indent="0">
              <a:lnSpc>
                <a:spcPct val="104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403、timeout、API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不存在、Nodes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API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部分回應，都保留為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skipped／unknown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或警示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575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4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575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4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每張診斷卡保留資料來源與需額外條件，讓閱讀者知道結論強度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575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4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575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4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工具不執行修復；修復建議仍需人工確認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4" name="status-pass">
            <a:extLst>
              <a:ext uri="{FF2B5EF4-FFF2-40B4-BE49-F238E27FC236}">
                <a16:creationId xmlns:a16="http://schemas.microsoft.com/office/drawing/2014/main" id="{D158B590-933E-4B25-980E-DCB8836BBC11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438275" cy="819150"/>
          </a:xfrm>
          <a:prstGeom prst="roundRect">
            <a:avLst>
              <a:gd name="adj" fmla="val 11628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  <p:txBody>
          <a:bodyPr wrap="square" lIns="57150" tIns="76200" rIns="57150" bIns="76200" anchor="ctr">
            <a:normAutofit/>
          </a:bodyPr>
          <a:lstStyle/>
          <a:p>
            <a:pPr algn="ctr">
              <a:lnSpc>
                <a:spcPct val="98000"/>
              </a:lnSpc>
              <a:buNone/>
              <a:def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PASS</a:t>
            </a:r>
          </a:p>
          <a:p>
            <a:pPr algn="ctr">
              <a:lnSpc>
                <a:spcPct val="98000"/>
              </a:lnSpc>
              <a:buNone/>
              <a:def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回應足以判定正常</a:t>
            </a:r>
          </a:p>
        </p:txBody>
      </p:sp>
      <p:sp>
        <p:nvSpPr>
          <p:cNvPr id="145" name="status-warning">
            <a:extLst>
              <a:ext uri="{FF2B5EF4-FFF2-40B4-BE49-F238E27FC236}">
                <a16:creationId xmlns:a16="http://schemas.microsoft.com/office/drawing/2014/main" id="{5151246A-E3F9-4EBD-B2C8-8AE024F08689}"/>
              </a:ext>
            </a:extLst>
          </p:cNvPr>
          <p:cNvSpPr>
            <a:spLocks noGrp="1"/>
          </p:cNvSpPr>
          <p:nvPr/>
        </p:nvSpPr>
        <p:spPr>
          <a:xfrm>
            <a:off x="2238375" y="1409700"/>
            <a:ext cx="1438275" cy="819150"/>
          </a:xfrm>
          <a:prstGeom prst="roundRect">
            <a:avLst>
              <a:gd name="adj" fmla="val 11628"/>
            </a:avLst>
          </a:prstGeom>
          <a:solidFill>
            <a:srgbClr val="FFF3E0"/>
          </a:solidFill>
          <a:ln w="9525">
            <a:solidFill>
              <a:srgbClr val="A45100"/>
            </a:solidFill>
            <a:prstDash val="solid"/>
          </a:ln>
        </p:spPr>
        <p:txBody>
          <a:bodyPr wrap="square" lIns="57150" tIns="76200" rIns="57150" bIns="76200" anchor="ctr">
            <a:normAutofit/>
          </a:bodyPr>
          <a:lstStyle/>
          <a:p>
            <a:pPr algn="ctr">
              <a:lnSpc>
                <a:spcPct val="98000"/>
              </a:lnSpc>
              <a:buNone/>
              <a:def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WARNING</a:t>
            </a:r>
          </a:p>
          <a:p>
            <a:pPr algn="ctr">
              <a:lnSpc>
                <a:spcPct val="98000"/>
              </a:lnSpc>
              <a:buNone/>
              <a:def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風險或需持續觀察</a:t>
            </a:r>
          </a:p>
        </p:txBody>
      </p:sp>
      <p:sp>
        <p:nvSpPr>
          <p:cNvPr id="146" name="status-critical">
            <a:extLst>
              <a:ext uri="{FF2B5EF4-FFF2-40B4-BE49-F238E27FC236}">
                <a16:creationId xmlns:a16="http://schemas.microsoft.com/office/drawing/2014/main" id="{B9141180-75BF-42DE-998F-E9D2A409F652}"/>
              </a:ext>
            </a:extLst>
          </p:cNvPr>
          <p:cNvSpPr>
            <a:spLocks noGrp="1"/>
          </p:cNvSpPr>
          <p:nvPr/>
        </p:nvSpPr>
        <p:spPr>
          <a:xfrm>
            <a:off x="3790950" y="1409700"/>
            <a:ext cx="1438275" cy="819150"/>
          </a:xfrm>
          <a:prstGeom prst="roundRect">
            <a:avLst>
              <a:gd name="adj" fmla="val 11628"/>
            </a:avLst>
          </a:prstGeom>
          <a:solidFill>
            <a:srgbClr val="FFEBEE"/>
          </a:solidFill>
          <a:ln w="9525">
            <a:solidFill>
              <a:srgbClr val="C62828"/>
            </a:solidFill>
            <a:prstDash val="solid"/>
          </a:ln>
        </p:spPr>
        <p:txBody>
          <a:bodyPr wrap="square" lIns="57150" tIns="76200" rIns="57150" bIns="76200" anchor="ctr">
            <a:normAutofit/>
          </a:bodyPr>
          <a:lstStyle/>
          <a:p>
            <a:pPr algn="ctr">
              <a:lnSpc>
                <a:spcPct val="98000"/>
              </a:lnSpc>
              <a:buNone/>
              <a:def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CRITICAL</a:t>
            </a:r>
          </a:p>
          <a:p>
            <a:pPr algn="ctr">
              <a:lnSpc>
                <a:spcPct val="98000"/>
              </a:lnSpc>
              <a:buNone/>
              <a:def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明確異常或高風險</a:t>
            </a:r>
          </a:p>
        </p:txBody>
      </p:sp>
      <p:sp>
        <p:nvSpPr>
          <p:cNvPr id="147" name="status-skipped">
            <a:extLst>
              <a:ext uri="{FF2B5EF4-FFF2-40B4-BE49-F238E27FC236}">
                <a16:creationId xmlns:a16="http://schemas.microsoft.com/office/drawing/2014/main" id="{6C28E26D-F5FA-4126-9669-DD7B3E117943}"/>
              </a:ext>
            </a:extLst>
          </p:cNvPr>
          <p:cNvSpPr>
            <a:spLocks noGrp="1"/>
          </p:cNvSpPr>
          <p:nvPr/>
        </p:nvSpPr>
        <p:spPr>
          <a:xfrm>
            <a:off x="5343525" y="1409700"/>
            <a:ext cx="1438275" cy="819150"/>
          </a:xfrm>
          <a:prstGeom prst="roundRect">
            <a:avLst>
              <a:gd name="adj" fmla="val 11628"/>
            </a:avLst>
          </a:prstGeom>
          <a:solidFill>
            <a:srgbClr val="EEF1F3"/>
          </a:solidFill>
          <a:ln w="9525">
            <a:solidFill>
              <a:srgbClr val="59636E"/>
            </a:solidFill>
            <a:prstDash val="solid"/>
          </a:ln>
        </p:spPr>
        <p:txBody>
          <a:bodyPr wrap="square" lIns="57150" tIns="76200" rIns="57150" bIns="76200" anchor="ctr">
            <a:normAutofit/>
          </a:bodyPr>
          <a:lstStyle/>
          <a:p>
            <a:pPr algn="ctr">
              <a:lnSpc>
                <a:spcPct val="98000"/>
              </a:lnSpc>
              <a:buNone/>
              <a:def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SKIPPED</a:t>
            </a:r>
          </a:p>
          <a:p>
            <a:pPr algn="ctr">
              <a:lnSpc>
                <a:spcPct val="98000"/>
              </a:lnSpc>
              <a:buNone/>
              <a:def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版本／License 不適用</a:t>
            </a:r>
          </a:p>
        </p:txBody>
      </p:sp>
      <p:sp>
        <p:nvSpPr>
          <p:cNvPr id="148" name="status-unknown">
            <a:extLst>
              <a:ext uri="{FF2B5EF4-FFF2-40B4-BE49-F238E27FC236}">
                <a16:creationId xmlns:a16="http://schemas.microsoft.com/office/drawing/2014/main" id="{E7C3F926-56A2-4DF5-9499-12F3B4D07431}"/>
              </a:ext>
            </a:extLst>
          </p:cNvPr>
          <p:cNvSpPr>
            <a:spLocks noGrp="1"/>
          </p:cNvSpPr>
          <p:nvPr/>
        </p:nvSpPr>
        <p:spPr>
          <a:xfrm>
            <a:off x="6896100" y="1409700"/>
            <a:ext cx="1438275" cy="819150"/>
          </a:xfrm>
          <a:prstGeom prst="roundRect">
            <a:avLst>
              <a:gd name="adj" fmla="val 11628"/>
            </a:avLst>
          </a:prstGeom>
          <a:solidFill>
            <a:srgbClr val="ECEFF1"/>
          </a:solidFill>
          <a:ln w="9525">
            <a:solidFill>
              <a:srgbClr val="455A64"/>
            </a:solidFill>
            <a:prstDash val="solid"/>
          </a:ln>
        </p:spPr>
        <p:txBody>
          <a:bodyPr wrap="square" lIns="57150" tIns="76200" rIns="57150" bIns="76200" anchor="ctr">
            <a:normAutofit/>
          </a:bodyPr>
          <a:lstStyle/>
          <a:p>
            <a:pPr algn="ctr">
              <a:lnSpc>
                <a:spcPct val="98000"/>
              </a:lnSpc>
              <a:buNone/>
              <a:def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UNKNOWN</a:t>
            </a:r>
          </a:p>
          <a:p>
            <a:pPr algn="ctr">
              <a:lnSpc>
                <a:spcPct val="98000"/>
              </a:lnSpc>
              <a:buNone/>
              <a:def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證據不足，不能判定</a:t>
            </a:r>
          </a:p>
        </p:txBody>
      </p:sp>
    </p:spTree>
    <p:extLst>
      <p:ext uri="{BB962C8B-B14F-4D97-AF65-F5344CB8AC3E}">
        <p14:creationId xmlns:p14="http://schemas.microsoft.com/office/powerpoint/2010/main" val="1824265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39bcec289_0_44">
            <a:extLst>
              <a:ext uri="{FF2B5EF4-FFF2-40B4-BE49-F238E27FC236}">
                <a16:creationId xmlns:a16="http://schemas.microsoft.com/office/drawing/2014/main" id="{568880A8-C9E6-49C9-937B-0DD2F9894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4" y="247325"/>
            <a:ext cx="2754900" cy="1161900"/>
          </a:xfrm>
          <a:prstGeom prst="rect">
            <a:avLst/>
          </a:prstGeom>
        </p:spPr>
        <p:txBody>
          <a:bodyPr spcFirstLastPara="1" wrap="square" lIns="68575" tIns="34275" rIns="68575" bIns="34275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報告說明：結論、依據與限制</a:t>
            </a:r>
            <a:endParaRPr/>
          </a:p>
        </p:txBody>
      </p:sp>
      <p:sp>
        <p:nvSpPr>
          <p:cNvPr id="155" name="Google Shape;155;g2739bcec289_0_44">
            <a:extLst>
              <a:ext uri="{FF2B5EF4-FFF2-40B4-BE49-F238E27FC236}">
                <a16:creationId xmlns:a16="http://schemas.microsoft.com/office/drawing/2014/main" id="{D9F44F3D-D41F-4FF8-8181-D58FABB43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9300" y="480175"/>
            <a:ext cx="3873000" cy="4022400"/>
          </a:xfrm>
          <a:prstGeom prst="rect">
            <a:avLst/>
          </a:prstGeom>
        </p:spPr>
        <p:txBody>
          <a:bodyPr spcFirstLastPara="1" wrap="square" lIns="114300" tIns="152400" rIns="76200" bIns="76200" anchor="t">
            <a:normAutofit/>
          </a:bodyPr>
          <a:lstStyle/>
          <a:p>
            <a:pPr>
              <a:lnSpc>
                <a:spcPct val="102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每張診斷卡回答四件事</a:t>
            </a:r>
            <a:endParaRPr lang="en-US" sz="1575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2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575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2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發現了什麼狀態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  <a:endParaRPr lang="en-US" sz="1575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2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建議先查什麼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  <a:p>
            <a:pPr marL="0" indent="0">
              <a:lnSpc>
                <a:spcPct val="102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還缺哪些條件才能下結論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  <a:p>
            <a:pPr marL="0" indent="0">
              <a:lnSpc>
                <a:spcPct val="102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對應哪個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API／官方文件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  <a:endParaRPr lang="en-US" sz="1575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2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575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2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適合的使用情境</a:t>
            </a:r>
            <a:endParaRPr sz="1575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2000"/>
              </a:lnSpc>
              <a:spcAft>
                <a:spcPts val="8"/>
              </a:spcAft>
              <a:buNone/>
              <a:defRPr sz="1575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75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例行健檢、故障初判、交付前檢查、支援案件前置整理</a:t>
            </a:r>
            <a:r>
              <a:rPr sz="1575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pic>
        <p:nvPicPr>
          <p:cNvPr id="161" name="圖片 160"/>
          <p:cNvPicPr>
            <a:picLocks noChangeAspect="1"/>
          </p:cNvPicPr>
          <p:nvPr/>
        </p:nvPicPr>
        <p:blipFill>
          <a:blip r:embed="rId3"/>
          <a:srcRect l="5399" r="5399"/>
          <a:stretch>
            <a:fillRect/>
          </a:stretch>
        </p:blipFill>
        <p:spPr>
          <a:xfrm>
            <a:off x="1215500" y="1528975"/>
            <a:ext cx="3536700" cy="2973600"/>
          </a:xfrm>
          <a:prstGeom prst="roundRect">
            <a:avLst>
              <a:gd name="adj" fmla="val 3203"/>
            </a:avLst>
          </a:prstGeom>
        </p:spPr>
      </p:pic>
    </p:spTree>
    <p:extLst>
      <p:ext uri="{BB962C8B-B14F-4D97-AF65-F5344CB8AC3E}">
        <p14:creationId xmlns:p14="http://schemas.microsoft.com/office/powerpoint/2010/main" val="1218354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39bcec289_0_69">
            <a:extLst>
              <a:ext uri="{FF2B5EF4-FFF2-40B4-BE49-F238E27FC236}">
                <a16:creationId xmlns:a16="http://schemas.microsoft.com/office/drawing/2014/main" id="{038DB114-C1E5-45F5-A8F0-DA0C204C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9827"/>
            <a:ext cx="8520600" cy="572700"/>
          </a:xfrm>
          <a:prstGeom prst="rect">
            <a:avLst/>
          </a:prstGeom>
        </p:spPr>
        <p:txBody>
          <a:bodyPr spcFirstLastPara="1" wrap="square" lIns="36000" tIns="36000" rIns="36000" bIns="3600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 dirty="0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Elastic Support Diagnostics </a:t>
            </a:r>
            <a:r>
              <a:rPr sz="2625" b="1" dirty="0" err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與本工具：角色互補</a:t>
            </a:r>
            <a:endParaRPr dirty="0"/>
          </a:p>
        </p:txBody>
      </p:sp>
      <p:sp>
        <p:nvSpPr>
          <p:cNvPr id="142" name="Google Shape;142;g2739bcec289_0_69">
            <a:extLst>
              <a:ext uri="{FF2B5EF4-FFF2-40B4-BE49-F238E27FC236}">
                <a16:creationId xmlns:a16="http://schemas.microsoft.com/office/drawing/2014/main" id="{23173AA6-D030-4F1C-A2EA-3A4BD3A7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3857625" cy="3371850"/>
          </a:xfrm>
          <a:prstGeom prst="rect">
            <a:avLst/>
          </a:prstGeom>
        </p:spPr>
        <p:txBody>
          <a:bodyPr spcFirstLastPara="1" wrap="square" lIns="95250" tIns="76200" rIns="114300" bIns="57150" anchor="t">
            <a:normAutofit/>
          </a:bodyPr>
          <a:lstStyle/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Elastic Support Diagnostics</a:t>
            </a:r>
            <a:r>
              <a:rPr lang="zh-TW" altLang="en-US"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altLang="zh-TW"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(Elastic </a:t>
            </a:r>
            <a:r>
              <a:rPr lang="zh-TW" altLang="en-US"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官方</a:t>
            </a:r>
            <a:r>
              <a:rPr lang="en-US" altLang="zh-TW"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)</a:t>
            </a:r>
            <a:endParaRPr lang="en-US" sz="1388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388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目的：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建立深度診斷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archive，供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Elastic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Support／工程師分析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Java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核心；依官方說明需要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JDK 17+。</a:t>
            </a: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可收集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REST、OS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command、log、thread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dump；remote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模式可用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SSH／SFTP。</a:t>
            </a:r>
            <a:endParaRPr lang="en-US"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適合：重大事件、Support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escalation、需要完整證據時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4" name="right-column-12">
            <a:extLst>
              <a:ext uri="{FF2B5EF4-FFF2-40B4-BE49-F238E27FC236}">
                <a16:creationId xmlns:a16="http://schemas.microsoft.com/office/drawing/2014/main" id="{D2566061-06C3-440E-8816-CA2FCAB23D0C}"/>
              </a:ext>
            </a:extLst>
          </p:cNvPr>
          <p:cNvSpPr>
            <a:spLocks noGrp="1"/>
          </p:cNvSpPr>
          <p:nvPr/>
        </p:nvSpPr>
        <p:spPr>
          <a:xfrm>
            <a:off x="4791075" y="990600"/>
            <a:ext cx="3857625" cy="337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114300" bIns="57150">
            <a:normAutofit lnSpcReduction="10000"/>
          </a:bodyPr>
          <a:lstStyle/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elk-diagnostics</a:t>
            </a:r>
            <a:endParaRPr lang="en-US" sz="1388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388" b="1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目的：固定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ES API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合約，自動判讀並輸出中文健檢報告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Route B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客戶端只需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shell／curl，不需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Go、JDK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或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SSH。</a:t>
            </a:r>
            <a:endParaRPr lang="en-US"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採集範圍可由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API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清單稽核；可離線分析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適合：例行健檢、第一線初判、受管制環境</a:t>
            </a:r>
            <a:endParaRPr lang="en-US"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POC</a:t>
            </a:r>
            <a:r>
              <a:rPr sz="13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3000"/>
              </a:lnSpc>
              <a:spcAft>
                <a:spcPts val="8"/>
              </a:spcAft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3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3000"/>
              </a:lnSpc>
              <a:spcBef>
                <a:spcPts val="10"/>
              </a:spcBef>
              <a:buNone/>
              <a:defRPr sz="13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定位：不是取代官方工具，而是把『先判讀</a:t>
            </a:r>
            <a:r>
              <a:rPr lang="en-US" altLang="zh-TW" sz="1388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』</a:t>
            </a:r>
            <a:r>
              <a:rPr sz="1388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補在『深採集』之前</a:t>
            </a:r>
            <a:r>
              <a:rPr sz="13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24265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39bcec289_0_69">
            <a:extLst>
              <a:ext uri="{FF2B5EF4-FFF2-40B4-BE49-F238E27FC236}">
                <a16:creationId xmlns:a16="http://schemas.microsoft.com/office/drawing/2014/main" id="{038DB114-C1E5-45F5-A8F0-DA0C204C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9827"/>
            <a:ext cx="8520600" cy="572700"/>
          </a:xfrm>
          <a:prstGeom prst="rect">
            <a:avLst/>
          </a:prstGeom>
        </p:spPr>
        <p:txBody>
          <a:bodyPr spcFirstLastPara="1" wrap="square" lIns="36000" tIns="36000" rIns="36000" bIns="3600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33746"/>
                </a:solidFill>
                <a:latin typeface="Microsoft JhengHei"/>
                <a:ea typeface="Microsoft JhengHei"/>
                <a:cs typeface="Microsoft JhengHei"/>
              </a:rPr>
              <a:t>以可審查、最小權限的方式進入客戶環境</a:t>
            </a:r>
            <a:endParaRPr/>
          </a:p>
        </p:txBody>
      </p:sp>
      <p:sp>
        <p:nvSpPr>
          <p:cNvPr id="142" name="Google Shape;142;g2739bcec289_0_69">
            <a:extLst>
              <a:ext uri="{FF2B5EF4-FFF2-40B4-BE49-F238E27FC236}">
                <a16:creationId xmlns:a16="http://schemas.microsoft.com/office/drawing/2014/main" id="{23173AA6-D030-4F1C-A2EA-3A4BD3A7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200" y="788400"/>
            <a:ext cx="8521200" cy="3729600"/>
          </a:xfrm>
          <a:prstGeom prst="rect">
            <a:avLst/>
          </a:prstGeom>
        </p:spPr>
        <p:txBody>
          <a:bodyPr spcFirstLastPara="1" wrap="square" lIns="171450" tIns="171450" rIns="171450" bIns="76200" anchor="t">
            <a:normAutofit fontScale="92500"/>
          </a:bodyPr>
          <a:lstStyle/>
          <a:p>
            <a:pPr marL="0" indent="0">
              <a:lnSpc>
                <a:spcPct val="108000"/>
              </a:lnSpc>
              <a:spcAft>
                <a:spcPts val="8"/>
              </a:spcAft>
              <a:buNone/>
              <a:defRPr sz="16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688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連線基線：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HTTPS＋CA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驗證＋Basic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Auth；密碼互動輸入，不寫入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CLI、shell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history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或設定檔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6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8000"/>
              </a:lnSpc>
              <a:spcAft>
                <a:spcPts val="8"/>
              </a:spcAft>
              <a:buNone/>
              <a:defRPr sz="16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6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8000"/>
              </a:lnSpc>
              <a:spcAft>
                <a:spcPts val="8"/>
              </a:spcAft>
              <a:buNone/>
              <a:defRPr sz="16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688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採集範圍：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固定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39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個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GET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endpoint；不讀取文件內容，mapping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只會暴露欄位名稱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6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8000"/>
              </a:lnSpc>
              <a:spcAft>
                <a:spcPts val="8"/>
              </a:spcAft>
              <a:buNone/>
              <a:defRPr sz="16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6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8000"/>
              </a:lnSpc>
              <a:spcAft>
                <a:spcPts val="8"/>
              </a:spcAft>
              <a:buNone/>
              <a:defRPr sz="16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688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低依賴：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不需要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SSH、不部署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agent、不執行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OS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command；Route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B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只交付可審閱的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collect.sh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6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8000"/>
              </a:lnSpc>
              <a:spcAft>
                <a:spcPts val="8"/>
              </a:spcAft>
              <a:buNone/>
              <a:defRPr sz="16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6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8000"/>
              </a:lnSpc>
              <a:spcAft>
                <a:spcPts val="8"/>
              </a:spcAft>
              <a:buNone/>
              <a:defRPr sz="16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688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資料治理：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Bundle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HTML／JSON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仍可能包含叢集名稱、節點、索引、欄位與設定；交付前需依客戶政策保管與審查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6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8000"/>
              </a:lnSpc>
              <a:spcAft>
                <a:spcPts val="8"/>
              </a:spcAft>
              <a:buNone/>
              <a:defRPr sz="16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endParaRPr sz="1688" dirty="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indent="0">
              <a:lnSpc>
                <a:spcPct val="108000"/>
              </a:lnSpc>
              <a:spcAft>
                <a:spcPts val="8"/>
              </a:spcAft>
              <a:buNone/>
              <a:defRPr sz="1688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88" b="1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688" b="1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權限原則：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工具只讀且不自動修復；若帳號權限不足，報告明確標示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688" dirty="0" err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skipped／unknown</a:t>
            </a:r>
            <a:r>
              <a:rPr sz="1688" dirty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24265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148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46884"/>
      </a:dk1>
      <a:lt1>
        <a:srgbClr val="FFFFFF"/>
      </a:lt1>
      <a:dk2>
        <a:srgbClr val="2C96B1"/>
      </a:dk2>
      <a:lt2>
        <a:srgbClr val="C9B386"/>
      </a:lt2>
      <a:accent1>
        <a:srgbClr val="033746"/>
      </a:accent1>
      <a:accent2>
        <a:srgbClr val="83CCDC"/>
      </a:accent2>
      <a:accent3>
        <a:srgbClr val="756450"/>
      </a:accent3>
      <a:accent4>
        <a:srgbClr val="667481"/>
      </a:accent4>
      <a:accent5>
        <a:srgbClr val="576D7D"/>
      </a:accent5>
      <a:accent6>
        <a:srgbClr val="E08C8A"/>
      </a:accent6>
      <a:hlink>
        <a:srgbClr val="EE795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46884"/>
      </a:dk1>
      <a:lt1>
        <a:srgbClr val="FFFFFF"/>
      </a:lt1>
      <a:dk2>
        <a:srgbClr val="2C96B1"/>
      </a:dk2>
      <a:lt2>
        <a:srgbClr val="C9B386"/>
      </a:lt2>
      <a:accent1>
        <a:srgbClr val="033746"/>
      </a:accent1>
      <a:accent2>
        <a:srgbClr val="83CCDC"/>
      </a:accent2>
      <a:accent3>
        <a:srgbClr val="756450"/>
      </a:accent3>
      <a:accent4>
        <a:srgbClr val="667481"/>
      </a:accent4>
      <a:accent5>
        <a:srgbClr val="576D7D"/>
      </a:accent5>
      <a:accent6>
        <a:srgbClr val="E08C8A"/>
      </a:accent6>
      <a:hlink>
        <a:srgbClr val="EE795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712</Words>
  <Application>Microsoft Macintosh PowerPoint</Application>
  <DocSecurity>0</DocSecurity>
  <PresentationFormat>如螢幕大小 (16:9)</PresentationFormat>
  <Paragraphs>162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Microsoft JhengHei</vt:lpstr>
      <vt:lpstr>Arial</vt:lpstr>
      <vt:lpstr>Calibri</vt:lpstr>
      <vt:lpstr>Office 佈景主題</vt:lpstr>
      <vt:lpstr>elk-diagnostics</vt:lpstr>
      <vt:lpstr>把 API 快照，轉成可行動的診斷</vt:lpstr>
      <vt:lpstr>真正缺的，不是更多原始資料</vt:lpstr>
      <vt:lpstr>兩條路線 同一套診斷邏輯</vt:lpstr>
      <vt:lpstr>一份可直接審閱的診斷報告</vt:lpstr>
      <vt:lpstr>檢查範圍 ①｜叢集、Shard 與容量</vt:lpstr>
      <vt:lpstr>檢查範圍 ②｜節點與效能壓力</vt:lpstr>
      <vt:lpstr>檢查範圍 ③｜資料、生命週期與管理功能</vt:lpstr>
      <vt:lpstr>檢查範圍 ④｜備份、複寫、ML 與 TLS</vt:lpstr>
      <vt:lpstr>缺資料時，不把『不知道』寫成正常</vt:lpstr>
      <vt:lpstr>報告說明：結論、依據與限制</vt:lpstr>
      <vt:lpstr>Elastic Support Diagnostics 與本工具：角色互補</vt:lpstr>
      <vt:lpstr>以可審查、最小權限的方式進入客戶環境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陳志銓</cp:lastModifiedBy>
  <cp:revision>2</cp:revision>
  <dcterms:created xsi:type="dcterms:W3CDTF">2026-08-12T04:14:45Z</dcterms:created>
  <dcterms:modified xsi:type="dcterms:W3CDTF">2026-08-12T05:19:42Z</dcterms:modified>
</cp:coreProperties>
</file>